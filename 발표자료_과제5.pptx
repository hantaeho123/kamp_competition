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eabed666-999a-b9b5-dd79-1fbb8b4b390e}">
          <p14:sldIdLst>
            <p14:sldId id="256"/>
            <p14:sldId id="257"/>
            <p14:sldId id="258"/>
          </p14:sldIdLst>
        </p14:section>
        <p14:section name="0단계. 데이터 전처리 및 분할" id="{b4e94748-637e-393a-0b45-f68d7fc8cc9f}">
          <p14:sldIdLst>
            <p14:sldId id="259"/>
            <p14:sldId id="260"/>
            <p14:sldId id="261"/>
            <p14:sldId id="262"/>
            <p14:sldId id="263"/>
          </p14:sldIdLst>
        </p14:section>
        <p14:section name="1단계. 전력 예측" id="{626db5f8-4fb6-fc25-e686-681353c3d9f0}">
          <p14:sldIdLst>
            <p14:sldId id="264"/>
            <p14:sldId id="265"/>
            <p14:sldId id="266"/>
            <p14:sldId id="267"/>
            <p14:sldId id="268"/>
            <p14:sldId id="269"/>
            <p14:sldId id="270"/>
            <p14:sldId id="271"/>
            <p14:sldId id="272"/>
          </p14:sldIdLst>
        </p14:section>
        <p14:section name="2단계. 예측오차 분석" id="{0c8e7a36-2405-f5ee-8879-13b312eea488}">
          <p14:sldIdLst>
            <p14:sldId id="273"/>
            <p14:sldId id="274"/>
            <p14:sldId id="275"/>
          </p14:sldIdLst>
        </p14:section>
        <p14:section name="3~5단계. 피크 추출, 두 유형, 발생조건" id="{5e0ef25b-d3cf-ff1b-3690-1174f108f048}">
          <p14:sldIdLst>
            <p14:sldId id="276"/>
            <p14:sldId id="277"/>
            <p14:sldId id="278"/>
            <p14:sldId id="279"/>
          </p14:sldIdLst>
        </p14:section>
        <p14:section name="6단계. 저감방안" id="{887caa50-e2b9-9e30-cb0c-b67a16b4bc30}">
          <p14:sldIdLst>
            <p14:sldId id="280"/>
            <p14:sldId id="281"/>
            <p14:sldId id="282"/>
            <p14:sldId id="283"/>
          </p14:sldIdLst>
        </p14:section>
        <p14:section name="정리" id="{6e96598a-6630-1892-3aed-905197c8b73b}">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5번, 자원 최적화 AI 데이터셋 분석 결과를 발표합니다. 핵심은 세 가지입니다. 하루 전에 다음 날 15분 단위 전력을 예측했고, 실제 피크가 두 유형으로 나뉜다는 것을 밝혔고, 유형별 저감방안의 효과를 수치로 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결과를 한 장으로 요약합니다. 시험 구간 예측오차는 6.47킬로와트이고, 일 최대수요전력은 5.8킬로와트 오차로 맞힙니다. 공장인원은 정답에서 계산된 변수라 입력에서 뺐습니다. 피크는 두 유형으로 나뉘며 두 조치를 함께 써야 효과가 납니다. 예측에 연동한 운영 규칙으로 시험 2주의 최대수요전력을 204에서 189킬로와트로 낮췄습니다.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과제는 예측 모델 개발, 오차와 피크 조건 분석, 저감방안 제안 세 가지를 요구합니다. 이를 0단계 전처리부터 6단계 저감방안까지 일곱 단계로 나눠 진행했습니다. 주최 측이 시험 데이터를 따로 주지 않아, 가이드북 실습과 같은 9월 1일부터 14일까지를 시험 구간으로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선박엔진용 볼트 너트 공장 한 곳의 2021년 1월부터 9월 14일까지 기록입니다. 한 행이 한 시간이고 그 안에 15분 최대수요전력 네 개가 들어 있어, 실제 예측 단위는 24,672개의 15분 슬롯입니다. 설비별 전력과 제품 구분 컬럼은 없다는 점을 분명히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이상값 다섯 가지를 찾아 처리했습니다. 가장 중요한 것은 7월 13일과 15일입니다. 시간 값이 깨졌을 뿐 아니라 그 값 기준으로 행이 정렬돼 있어 실제 시각을 알 수 없었습니다. 기상 매칭으로 복원도 시도했지만 정상 가동일 모양과 달라 두 날의 전력은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하루 96개 전력값을 통째로 비교했더니 160일이 다른 날과 완전히 같았습니다. 복사는 1월부터 6월 안에서만 일어났고, 7월부터 9월은 원본입니다. 1~6월의 어떤 날도 7~9월과 일치하지 않는다는 것도 확인했습니다. 이 사실이 검증 방식, 집계 방식, 입력 변수 선택을 모두 좌우했습니다.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피크는 전체 슬롯의 5퍼센트뿐인 불균형 문제입니다. 그래서 평균 오차와 함께 피크 전용 지표를 씁니다. 분할은 시간 순서로 했습니다. 가이드북처럼 무작위로 나누면 시험 표본의 58퍼센트가 학습셋에 복사본을 갖고 있어 성능이 부풀려지기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기본 설정으로 8개 모델을 같은 조건에서 비교했습니다. 부스팅 세 종이 지난주 같은 시각을 쓰는 베이스라인보다 오차를 절반 넘게 줄였습니다. 다만 일 최대는 직전 가동일 모양을 그대로 쓰는 규칙이 더 잘 맞혀, 피크는 따로 보완해야 한다는 것을 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LightGBM에서 입력만 바꿔 봤습니다. 전날과 전주의 전력값을 넣으면 오차가 8.19에서 12.93으로 나빠집니다. 복사일이 날짜 간 연속성을 끊어 놓았기 때문입니다. 직전 값을 쓸 수 있는 1시간 전 예측조차 하루 전 계획 기반 모델보다 나빴습니다. 그래서 입력을 생산계획, 달력, 기상으로 확정했습니다.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설정 한 벌로는 우열이 설정 운에 좌우될 수 있어 85가지 설정을 탐색했습니다. LightGBM과 ExtraTrees는 탐색해도 거의 그대로였고, XGBoost와 CatBoost, 신경망은 개선됐습니다. 탐색한 뒤에는 ExtraTrees가 7.36으로 가장 낮습니다. 최종 선택은 다음 장에서 앙상블까지 같은 검증으로 비교해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탐색된 일곱 개 모델로 앙상블 다섯 종을 비교했습니다. 최종 모델은 검증 오차가 가장 낮은 것으로 한다고 미리 정했고, 그 결과 단일 ExtraTrees가 7.36으로 선정됐습니다. 앙상블 다섯 종은 모두 이를 넘지 못했습니다. 시험 구간에서는 스태킹과 가중 평균이 조금 더 낮지만, 시험 성적으로는 고르지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모델을 9월 1일 이전 전체로 다시 학습해 시험 구간을 한 번 예측했습니다. 평균 절대오차는 6.47킬로와트, 변동계수 기준으로 8.7퍼센트입니다. 지난주 같은 시각을 쓰는 베이스라인보다 44퍼센트 낮습니다. 가장 큰 오차는 9월 8일 계측 누락 직후 재기동 구간에서 났습니다.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예측의 최댓값은 실제 일 최대보다 약 15킬로와트 낮습니다. 회귀모델이 급등을 평균해 버리기 때문입니다. 그래서 일 단위 모델과 직전 가동일 최대값 규칙을 반반 섞은 일 최대 전용 예측을 만들었고, 시험 오차가 5.82킬로와트로 가장 작습니다. 예측구간은 검증 잔차로 폭을 넓혀 실제 포함률을 86퍼센트로 맞췄습니다.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슬롯마다 180킬로와트 이상이 되는지를 맞히는 방식을 베이스라인 포함 여섯 가지로 비교했습니다. 경보 규칙은 검증 F1이 가장 높은 것으로 한다고 미리 정했고, 전력량 예측값이 170킬로와트 이상이면 경보하는 방식이 0.69로 선정됐습니다. 시험 F1은 0.46으로 베이스라인 0.37과 0.39보다 높습니다. 확률 모델은 보정해서 시간대별 위험도로 함께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값으로 본 영향변수입니다. 당시간 생산계획량이 압도적으로 크고, 같은 생산량이라도 그날 생산이 저녁까지 이어지는지, 몇 시인지에 따라 전력이 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모델이 보지 못한 10주의 예측을 분석했습니다. 전체 오차는 7.18이지만 피크 시간에는 12.54로 1.7배입니다. 편향이 마이너스 11로, 거의 전부 낮게 예측합니다. 두 유형 모두 비슷하게 낮습니다. 그래서 피크는 일 최대 전용 예측과 낮춘 경보 기준으로 보완했습니다.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조건별로 나누면 저녁과 야간이 전체 오차의 26퍼센트를 차지합니다. 잔업 범위가 생산계획에 덜 드러나기 때문입니다. 재가동일은 높게, 26도 이상은 낮게 예측합니다. 가장 큰 오차는 하계휴가 직전일과 대체공휴일 같은 특수일에서 났습니다. 생산계획이 설비 가동을 대표하지 못한 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예측값 170킬로와트 이상 경보와 실제 피크를 비교했습니다. 전체로는 피크의 83퍼센트를 잡습니다. 놓친 피크는 비율로 보면 저녁이 가장 나빠 재현율이 12퍼센트이고, 건수로는 오후 가동 중이 가장 많습니다. 헛경보는 오전과 오후 가동 중에 몰리고, 정밀도는 오후가 46퍼센트로 낮습니다.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15분 최대수요전력이 180킬로와트 이상인 연속 구간을 피크 구간으로 정의했습니다. 180 이상 슬롯은 전체의 5퍼센트입니다. 426개 구간이 나왔고, 복사일을 한 번만 세면 267개입니다. 7월부터 9월 정상 가동일 47일 중 46일에 피크 구간이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구간마다 상승폭, 지속시간, 직전 한 시간 부하를 계산해 묶었습니다. 묶음 수는 실루엣 점수가 가장 높은 두 개로 정했습니다. 유형 1은 낮은 부하에서 65킬로와트 급등해 90분 이어지고, 유형 2는 이미 높은 부하 위에서 19킬로와트 더 올라 30분 안에 끝납니다. 여섯 특성 모두 통계적으로 유의하게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유형은 생기는 조건이 다릅니다. 유형 1은 8시대와 13시대, 직전 시간 생산계획이 적다가 늘어나는 시점에 생깁니다. 설비가 쉬다가 한꺼번에 켜질 때입니다. 유형 2는 9시에서 11시, 14시에서 16시, 생산이 계속 많을 때 생깁니다. 둘 다 최고기온 27도 이상인 날에 급증합니다. 원인이 다르므로 대책도 달라야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7월부터 9월 실측 프로파일에 전력량을 보존하는 부하 이동 선형계획을 적용했습니다. 유형 1에는 설비 가동시점 분산, 유형 2에는 생산일정 저녁 이동을 적용합니다. 한 조치만 쓰면 3에서 5킬로와트에 그치지만, 함께 쓰면 11.5킬로와트가 줄어듭니다. 한 유형을 낮추면 다른 유형의 피크가 그날의 최대가 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앞의 시뮬레이션은 그날의 실측을 안다고 가정합니다. 현실에서는 하루 전 예측만 보고 계획을 세워야 하므로 시험 구간에서 따로 검증했습니다. 일 최대 예측이 185 이상인 날에 주간 15킬로와트 블록을 저녁으로 옮겼더니 최대수요전력이 204에서 189로 내려갔습니다. 기준을 목표값 190 그대로 두면 9월 10일을 놓쳐 효과가 없습니다. 경보 기준은 목표에서 예측오차를 뺀 값이어야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적용 절차입니다. 전날 오후 생산계획이 확정되면 모델을 돌리고, 일 최대 예측이 185 이상이면 경보일로 지정합니다. 유형 1에는 설비를 한두 시간 먼저 켜고, 유형 2에는 생산 일부를 저녁으로 옮깁니다. 당일에는 피크 확률이 높은 시간대를 먼저 점검합니다. 여름 피크 1킬로와트를 줄이면 기본요금이 연 약 9만 원 줄어듭니다.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차별점 여섯 가지입니다. 복사일과 공장인원 누수를 찾아 검증과 입력 구성을 그에 맞췄고, 불균형 가중과 확률보정을 적용했고, 앙상블 다섯 종을 비교하고 일 최대 앙상블을 썼고, 예측구간을 보정했고, 재가동일과 피크 유형 같은 제조 지식을 결합했고, 예측을 선형계획과 요금으로 연결했습니다.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서면평가 여섯 항목에 대한 대응을 정리했습니다. 평가 문구가 분류 과제용이라, 180킬로와트 이상을 사건으로 정의해 F1과 놓친 피크, 헛경보를 계산했습니다. 코드는 노트북 한 번 실행으로 전처리부터 결과 생성까지 자동으로 진행됩니다.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데이터는 공휴일 달력과 한전 전기요금표 두 가지이며 모두 공개 자료입니다. 한계도 분명히 합니다. 기상은 실측을 예보 대신 썼고, 옮길 수 있는 부하 비율은 가정값이며, 저녁 생산은 인건비가 1.5배인 시간대이고, 원본 구간이 여름뿐이라 겨울 피크는 검증하지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생산계획만으로 하루 전에 15분 단위 전력과 일 최대를 예측하고, 피크가 두 유형이라는 것을 밝혀 유형별 조치를 제안했습니다. 예측에 연동한 운영으로 최대수요전력을 7퍼센트 낮출 수 있었습니다.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51560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4114800"/>
            <a:ext cx="1051560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468880"/>
            <a:ext cx="8961120" cy="10058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611880"/>
            <a:ext cx="8961120" cy="1463040"/>
          </a:xfrm>
          <a:prstGeom prst="rect">
            <a:avLst/>
          </a:prstGeom>
          <a:noFill/>
          <a:ln/>
        </p:spPr>
        <p:txBody>
          <a:bodyPr wrap="square" rtlCol="0"/>
          <a:lstStyle>
            <a:lvl1pPr indent="0" marL="0">
              <a:buNone/>
              <a:defRPr lang="en-US" sz="1700" dirty="0">
                <a:solidFill>
                  <a:schemeClr val="accent6"/>
                </a:solidFill>
              </a:defRPr>
            </a:lvl1pPr>
          </a:lstStyle>
          <a:p>
            <a:pPr indent="0" marL="0">
              <a:buNone/>
            </a:pP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rtlCol="0"/>
          <a:lstStyle>
            <a:lvl1pPr algn="l" indent="0" marL="0">
              <a:buNone/>
              <a:defRPr lang="en-US" sz="2500" b="1" dirty="0">
                <a:solidFill>
                  <a:schemeClr val="tx1"/>
                </a:solidFill>
              </a:defRPr>
            </a:lvl1pPr>
          </a:lstStyle>
          <a:p>
            <a:pPr algn="l" indent="0" marL="0">
              <a:buNone/>
            </a:pPr>
            <a:endParaRPr lang="en-US" sz="25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제조 생산데이터 기반 전력사용량 예측 및 최대피크 위험조건 분석</a:t>
            </a:r>
            <a:endParaRPr lang="en-US" sz="10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25880"/>
            <a:ext cx="10515600" cy="365760"/>
          </a:xfrm>
          <a:prstGeom prst="rect">
            <a:avLst/>
          </a:prstGeom>
          <a:noFill/>
          <a:ln/>
        </p:spPr>
        <p:txBody>
          <a:bodyPr wrap="square" lIns="0" tIns="0" rIns="0" bIns="0" rtlCol="0" anchor="ctr"/>
          <a:lstStyle/>
          <a:p>
            <a:pPr indent="0" marL="0">
              <a:buNone/>
            </a:pPr>
            <a:r>
              <a:rPr lang="en-US" sz="1500" b="1" dirty="0">
                <a:solidFill>
                  <a:schemeClr val="accent1"/>
                </a:solidFill>
              </a:rPr>
              <a:t>제6회 K-인공지능 제조데이터 분석 경진대회 · 과제 ⑤ 자원 최적화 AI 데이터셋</a:t>
            </a:r>
            <a:endParaRPr lang="en-US" sz="1500" dirty="0"/>
          </a:p>
        </p:txBody>
      </p:sp>
      <p:sp>
        <p:nvSpPr>
          <p:cNvPr id="3" name="Text 0"/>
          <p:cNvSpPr/>
          <p:nvPr>
            <p:ph idx="100" type="title" hasCustomPrompt="1"/>
          </p:nvPr>
        </p:nvSpPr>
        <p:spPr>
          <a:xfrm>
            <a:off x="822960" y="2011680"/>
            <a:ext cx="10515600" cy="1737360"/>
          </a:xfrm>
          <a:prstGeom prst="rect">
            <a:avLst/>
          </a:prstGeom>
          <a:noFill/>
          <a:ln/>
        </p:spPr>
        <p:txBody>
          <a:bodyPr wrap="square" lIns="0" tIns="0" rIns="0" bIns="0" rtlCol="0" anchor="t"/>
          <a:lstStyle/>
          <a:p>
            <a:pPr algn="l" indent="0" marL="0">
              <a:buNone/>
            </a:pPr>
            <a:r>
              <a:rPr lang="en-US" sz="4000" b="1" dirty="0">
                <a:solidFill>
                  <a:schemeClr val="bg1"/>
                </a:solidFill>
              </a:rPr>
              <a:t>제조 생산데이터 기반 전력사용량 예측 및</a:t>
            </a:r>
            <a:endParaRPr lang="en-US" sz="4000" dirty="0"/>
          </a:p>
          <a:p>
            <a:pPr algn="l" indent="0" marL="0">
              <a:buNone/>
            </a:pPr>
            <a:r>
              <a:rPr lang="en-US" sz="4000" b="1" dirty="0">
                <a:solidFill>
                  <a:schemeClr val="bg1"/>
                </a:solidFill>
              </a:rPr>
              <a:t>최대피크 위험조건 분석</a:t>
            </a:r>
            <a:endParaRPr lang="en-US" sz="4000" dirty="0"/>
          </a:p>
        </p:txBody>
      </p:sp>
      <p:sp>
        <p:nvSpPr>
          <p:cNvPr id="4" name="Text 0"/>
          <p:cNvSpPr/>
          <p:nvPr>
            <p:ph idx="101" type="body" hasCustomPrompt="1"/>
          </p:nvPr>
        </p:nvSpPr>
        <p:spPr>
          <a:xfrm>
            <a:off x="822960" y="4114800"/>
            <a:ext cx="10515600" cy="1097280"/>
          </a:xfrm>
          <a:prstGeom prst="rect">
            <a:avLst/>
          </a:prstGeom>
          <a:noFill/>
          <a:ln/>
        </p:spPr>
        <p:txBody>
          <a:bodyPr wrap="square" lIns="0" tIns="0" rIns="0" bIns="0" rtlCol="0" anchor="t"/>
          <a:lstStyle/>
          <a:p>
            <a:pPr indent="0" marL="0">
              <a:buNone/>
            </a:pPr>
            <a:r>
              <a:rPr lang="en-US" sz="1800" dirty="0">
                <a:solidFill>
                  <a:schemeClr val="accent6"/>
                </a:solidFill>
              </a:rPr>
              <a:t>하루 전 15분 단위 전력 예측, 피크 두 유형 규명, 유형별 저감방안</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하루 전에 피크를 예측하고, 유형별 조치로 최대수요전력을 낮춘다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요약</a:t>
            </a:r>
            <a:endParaRPr lang="en-US" sz="1200" dirty="0"/>
          </a:p>
        </p:txBody>
      </p:sp>
      <p:sp>
        <p:nvSpPr>
          <p:cNvPr id="5" name="수치 카드"/>
          <p:cNvSpPr/>
          <p:nvPr/>
        </p:nvSpPr>
        <p:spPr>
          <a:xfrm>
            <a:off x="548640" y="1508760"/>
            <a:ext cx="2651760" cy="1325880"/>
          </a:xfrm>
          <a:prstGeom prst="roundRect">
            <a:avLst>
              <a:gd name="adj" fmla="val 5517"/>
            </a:avLst>
          </a:prstGeom>
          <a:solidFill>
            <a:schemeClr val="bg2"/>
          </a:solidFill>
          <a:ln w="12700">
            <a:solidFill>
              <a:schemeClr val="bg2"/>
            </a:solidFill>
            <a:prstDash val="solid"/>
          </a:ln>
        </p:spPr>
      </p:sp>
      <p:sp>
        <p:nvSpPr>
          <p:cNvPr id="6" name="Text 3"/>
          <p:cNvSpPr txBox="1"/>
          <p:nvPr/>
        </p:nvSpPr>
        <p:spPr>
          <a:xfrm>
            <a:off x="731520" y="1636776"/>
            <a:ext cx="2286000" cy="685800"/>
          </a:xfrm>
          <a:prstGeom prst="rect">
            <a:avLst/>
          </a:prstGeom>
          <a:noFill/>
          <a:ln/>
        </p:spPr>
        <p:txBody>
          <a:bodyPr wrap="square" lIns="0" tIns="0" rIns="0" bIns="0" rtlCol="0" anchor="ctr"/>
          <a:lstStyle/>
          <a:p>
            <a:pPr indent="0" marL="0">
              <a:spcAft>
                <a:spcPts val="500"/>
              </a:spcAft>
              <a:buNone/>
            </a:pPr>
            <a:r>
              <a:rPr lang="en-US" sz="3200" b="1" dirty="0">
                <a:solidFill>
                  <a:schemeClr val="accent3"/>
                </a:solidFill>
              </a:rPr>
              <a:t>6.47 kW</a:t>
            </a:r>
            <a:endParaRPr lang="en-US" sz="3200" dirty="0"/>
          </a:p>
        </p:txBody>
      </p:sp>
      <p:sp>
        <p:nvSpPr>
          <p:cNvPr id="7" name="Text 4"/>
          <p:cNvSpPr txBox="1"/>
          <p:nvPr/>
        </p:nvSpPr>
        <p:spPr>
          <a:xfrm>
            <a:off x="731520" y="233172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시험 구간 15분 예측 MAE</a:t>
            </a:r>
            <a:endParaRPr lang="en-US" sz="1200" dirty="0"/>
          </a:p>
          <a:p>
            <a:pPr indent="0" marL="0">
              <a:spcAft>
                <a:spcPts val="500"/>
              </a:spcAft>
              <a:buNone/>
            </a:pPr>
            <a:r>
              <a:rPr lang="en-US" sz="1200" dirty="0">
                <a:solidFill>
                  <a:schemeClr val="tx2"/>
                </a:solidFill>
              </a:rPr>
              <a:t>(베이스라인 11.52 kW)</a:t>
            </a:r>
            <a:endParaRPr lang="en-US" sz="1200" dirty="0"/>
          </a:p>
        </p:txBody>
      </p:sp>
      <p:sp>
        <p:nvSpPr>
          <p:cNvPr id="8" name="수치 카드"/>
          <p:cNvSpPr/>
          <p:nvPr/>
        </p:nvSpPr>
        <p:spPr>
          <a:xfrm>
            <a:off x="3355848" y="1508760"/>
            <a:ext cx="2651760" cy="1325880"/>
          </a:xfrm>
          <a:prstGeom prst="roundRect">
            <a:avLst>
              <a:gd name="adj" fmla="val 5517"/>
            </a:avLst>
          </a:prstGeom>
          <a:solidFill>
            <a:schemeClr val="bg2"/>
          </a:solidFill>
          <a:ln w="12700">
            <a:solidFill>
              <a:schemeClr val="bg2"/>
            </a:solidFill>
            <a:prstDash val="solid"/>
          </a:ln>
        </p:spPr>
      </p:sp>
      <p:sp>
        <p:nvSpPr>
          <p:cNvPr id="9" name="Text 6"/>
          <p:cNvSpPr txBox="1"/>
          <p:nvPr/>
        </p:nvSpPr>
        <p:spPr>
          <a:xfrm>
            <a:off x="3538728" y="1636776"/>
            <a:ext cx="2286000" cy="685800"/>
          </a:xfrm>
          <a:prstGeom prst="rect">
            <a:avLst/>
          </a:prstGeom>
          <a:noFill/>
          <a:ln/>
        </p:spPr>
        <p:txBody>
          <a:bodyPr wrap="square" lIns="0" tIns="0" rIns="0" bIns="0" rtlCol="0" anchor="ctr"/>
          <a:lstStyle/>
          <a:p>
            <a:pPr indent="0" marL="0">
              <a:spcAft>
                <a:spcPts val="500"/>
              </a:spcAft>
              <a:buNone/>
            </a:pPr>
            <a:r>
              <a:rPr lang="en-US" sz="3200" b="1" dirty="0">
                <a:solidFill>
                  <a:schemeClr val="accent3"/>
                </a:solidFill>
              </a:rPr>
              <a:t>5.82 kW</a:t>
            </a:r>
            <a:endParaRPr lang="en-US" sz="3200" dirty="0"/>
          </a:p>
        </p:txBody>
      </p:sp>
      <p:sp>
        <p:nvSpPr>
          <p:cNvPr id="10" name="Text 7"/>
          <p:cNvSpPr txBox="1"/>
          <p:nvPr/>
        </p:nvSpPr>
        <p:spPr>
          <a:xfrm>
            <a:off x="3538728" y="233172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일 최대수요전력 예측 MAE</a:t>
            </a:r>
            <a:endParaRPr lang="en-US" sz="1200" dirty="0"/>
          </a:p>
          <a:p>
            <a:pPr indent="0" marL="0">
              <a:spcAft>
                <a:spcPts val="500"/>
              </a:spcAft>
              <a:buNone/>
            </a:pPr>
            <a:r>
              <a:rPr lang="en-US" sz="1200" dirty="0">
                <a:solidFill>
                  <a:schemeClr val="tx2"/>
                </a:solidFill>
              </a:rPr>
              <a:t>(가동일, 오차율 3.0%)</a:t>
            </a:r>
            <a:endParaRPr lang="en-US" sz="1200" dirty="0"/>
          </a:p>
        </p:txBody>
      </p:sp>
      <p:sp>
        <p:nvSpPr>
          <p:cNvPr id="11" name="수치 카드"/>
          <p:cNvSpPr/>
          <p:nvPr/>
        </p:nvSpPr>
        <p:spPr>
          <a:xfrm>
            <a:off x="6163056" y="1508760"/>
            <a:ext cx="2651760" cy="1325880"/>
          </a:xfrm>
          <a:prstGeom prst="roundRect">
            <a:avLst>
              <a:gd name="adj" fmla="val 5517"/>
            </a:avLst>
          </a:prstGeom>
          <a:solidFill>
            <a:schemeClr val="bg2"/>
          </a:solidFill>
          <a:ln w="12700">
            <a:solidFill>
              <a:schemeClr val="bg2"/>
            </a:solidFill>
            <a:prstDash val="solid"/>
          </a:ln>
        </p:spPr>
      </p:sp>
      <p:sp>
        <p:nvSpPr>
          <p:cNvPr id="12" name="Text 9"/>
          <p:cNvSpPr txBox="1"/>
          <p:nvPr/>
        </p:nvSpPr>
        <p:spPr>
          <a:xfrm>
            <a:off x="6345936" y="1636776"/>
            <a:ext cx="2286000" cy="685800"/>
          </a:xfrm>
          <a:prstGeom prst="rect">
            <a:avLst/>
          </a:prstGeom>
          <a:noFill/>
          <a:ln/>
        </p:spPr>
        <p:txBody>
          <a:bodyPr wrap="square" lIns="0" tIns="0" rIns="0" bIns="0" rtlCol="0" anchor="ctr"/>
          <a:lstStyle/>
          <a:p>
            <a:pPr indent="0" marL="0">
              <a:spcAft>
                <a:spcPts val="500"/>
              </a:spcAft>
              <a:buNone/>
            </a:pPr>
            <a:r>
              <a:rPr lang="en-US" sz="3200" b="1" dirty="0">
                <a:solidFill>
                  <a:schemeClr val="accent4"/>
                </a:solidFill>
              </a:rPr>
              <a:t>2 유형</a:t>
            </a:r>
            <a:endParaRPr lang="en-US" sz="3200" dirty="0"/>
          </a:p>
        </p:txBody>
      </p:sp>
      <p:sp>
        <p:nvSpPr>
          <p:cNvPr id="13" name="Text 10"/>
          <p:cNvSpPr txBox="1"/>
          <p:nvPr/>
        </p:nvSpPr>
        <p:spPr>
          <a:xfrm>
            <a:off x="6345936" y="233172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실제 피크 구간 267개를</a:t>
            </a:r>
            <a:endParaRPr lang="en-US" sz="1200" dirty="0"/>
          </a:p>
          <a:p>
            <a:pPr indent="0" marL="0">
              <a:spcAft>
                <a:spcPts val="500"/>
              </a:spcAft>
              <a:buNone/>
            </a:pPr>
            <a:r>
              <a:rPr lang="en-US" sz="1200" dirty="0">
                <a:solidFill>
                  <a:schemeClr val="tx2"/>
                </a:solidFill>
              </a:rPr>
              <a:t>상승폭·지속시간으로 구분</a:t>
            </a:r>
            <a:endParaRPr lang="en-US" sz="1200" dirty="0"/>
          </a:p>
        </p:txBody>
      </p:sp>
      <p:sp>
        <p:nvSpPr>
          <p:cNvPr id="14" name="수치 카드"/>
          <p:cNvSpPr/>
          <p:nvPr/>
        </p:nvSpPr>
        <p:spPr>
          <a:xfrm>
            <a:off x="8970264" y="1508760"/>
            <a:ext cx="2651760" cy="1325880"/>
          </a:xfrm>
          <a:prstGeom prst="roundRect">
            <a:avLst>
              <a:gd name="adj" fmla="val 5517"/>
            </a:avLst>
          </a:prstGeom>
          <a:solidFill>
            <a:schemeClr val="bg2"/>
          </a:solidFill>
          <a:ln w="12700">
            <a:solidFill>
              <a:schemeClr val="bg2"/>
            </a:solidFill>
            <a:prstDash val="solid"/>
          </a:ln>
        </p:spPr>
      </p:sp>
      <p:sp>
        <p:nvSpPr>
          <p:cNvPr id="15" name="Text 12"/>
          <p:cNvSpPr txBox="1"/>
          <p:nvPr/>
        </p:nvSpPr>
        <p:spPr>
          <a:xfrm>
            <a:off x="9153144" y="1636776"/>
            <a:ext cx="2286000" cy="685800"/>
          </a:xfrm>
          <a:prstGeom prst="rect">
            <a:avLst/>
          </a:prstGeom>
          <a:noFill/>
          <a:ln/>
        </p:spPr>
        <p:txBody>
          <a:bodyPr wrap="square" lIns="0" tIns="0" rIns="0" bIns="0" rtlCol="0" anchor="ctr"/>
          <a:lstStyle/>
          <a:p>
            <a:pPr indent="0" marL="0">
              <a:spcAft>
                <a:spcPts val="500"/>
              </a:spcAft>
              <a:buNone/>
            </a:pPr>
            <a:r>
              <a:rPr lang="en-US" sz="2300" b="1" dirty="0">
                <a:solidFill>
                  <a:schemeClr val="accent2"/>
                </a:solidFill>
              </a:rPr>
              <a:t>204 → 189 kW</a:t>
            </a:r>
            <a:endParaRPr lang="en-US" sz="2300" dirty="0"/>
          </a:p>
        </p:txBody>
      </p:sp>
      <p:sp>
        <p:nvSpPr>
          <p:cNvPr id="16" name="Text 13"/>
          <p:cNvSpPr txBox="1"/>
          <p:nvPr/>
        </p:nvSpPr>
        <p:spPr>
          <a:xfrm>
            <a:off x="9153144" y="233172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예측 연동 운영 시</a:t>
            </a:r>
            <a:endParaRPr lang="en-US" sz="1200" dirty="0"/>
          </a:p>
          <a:p>
            <a:pPr indent="0" marL="0">
              <a:spcAft>
                <a:spcPts val="500"/>
              </a:spcAft>
              <a:buNone/>
            </a:pPr>
            <a:r>
              <a:rPr lang="en-US" sz="1200" dirty="0">
                <a:solidFill>
                  <a:schemeClr val="tx2"/>
                </a:solidFill>
              </a:rPr>
              <a:t>시험 2주 최대수요전력</a:t>
            </a:r>
            <a:endParaRPr lang="en-US" sz="1200" dirty="0"/>
          </a:p>
        </p:txBody>
      </p:sp>
      <p:sp>
        <p:nvSpPr>
          <p:cNvPr id="17" name="Text 14"/>
          <p:cNvSpPr txBox="1"/>
          <p:nvPr/>
        </p:nvSpPr>
        <p:spPr>
          <a:xfrm>
            <a:off x="548640" y="3108960"/>
            <a:ext cx="3657600" cy="32004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핵심 발견</a:t>
            </a:r>
            <a:endParaRPr lang="en-US" sz="1600" dirty="0"/>
          </a:p>
        </p:txBody>
      </p:sp>
      <p:sp>
        <p:nvSpPr>
          <p:cNvPr id="18" name="Text 15"/>
          <p:cNvSpPr txBox="1"/>
          <p:nvPr/>
        </p:nvSpPr>
        <p:spPr>
          <a:xfrm>
            <a:off x="548640" y="3474720"/>
            <a:ext cx="11091672" cy="160020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chemeClr val="tx1"/>
                </a:solidFill>
              </a:rPr>
              <a:t>데이터의 62%가 복사본: </a:t>
            </a:r>
            <a:pPr indent="0" marL="0">
              <a:spcAft>
                <a:spcPts val="700"/>
              </a:spcAft>
              <a:buNone/>
            </a:pPr>
            <a:r>
              <a:rPr lang="en-US" sz="1400" dirty="0">
                <a:solidFill>
                  <a:schemeClr val="tx2"/>
                </a:solidFill>
              </a:rPr>
              <a:t>257일 중 160일이 다른 날과 전력 패턴이 완전히 같다(1~6월 내부 복사). 무작위 분할 검증은 시험 표본의 58%가 학습셋에 복사본을 갖는다.</a:t>
            </a:r>
            <a:endParaRPr lang="en-US" sz="1400" dirty="0"/>
          </a:p>
          <a:p>
            <a:pPr marL="342900" indent="-342900">
              <a:spcAft>
                <a:spcPts val="700"/>
              </a:spcAft>
              <a:buSzPct val="100000"/>
              <a:buChar char="•"/>
            </a:pPr>
            <a:r>
              <a:rPr lang="en-US" sz="1400" b="1" dirty="0">
                <a:solidFill>
                  <a:schemeClr val="tx1"/>
                </a:solidFill>
              </a:rPr>
              <a:t>공장인원은 정답이 섞인 변수다: </a:t>
            </a:r>
            <a:pPr indent="0" marL="0">
              <a:spcAft>
                <a:spcPts val="700"/>
              </a:spcAft>
              <a:buNone/>
            </a:pPr>
            <a:r>
              <a:rPr lang="en-US" sz="1400" dirty="0">
                <a:solidFill>
                  <a:schemeClr val="tx2"/>
                </a:solidFill>
              </a:rPr>
              <a:t>공장인원 = 생산량 ÷ 4구간 전력 합(3,511행 모두 일치)이라 입력에서 뺐다. 전날·전주 전력값도 MAE를 8.19 → 12.93 kW로 나쁘게 해 뺐다.</a:t>
            </a:r>
            <a:endParaRPr lang="en-US" sz="1400" dirty="0"/>
          </a:p>
          <a:p>
            <a:pPr marL="342900" indent="-342900">
              <a:spcAft>
                <a:spcPts val="700"/>
              </a:spcAft>
              <a:buSzPct val="100000"/>
              <a:buChar char="•"/>
            </a:pPr>
            <a:r>
              <a:rPr lang="en-US" sz="1400" b="1" dirty="0">
                <a:solidFill>
                  <a:schemeClr val="tx1"/>
                </a:solidFill>
              </a:rPr>
              <a:t>피크 시간에는 예측이 약 11 kW 낮다: </a:t>
            </a:r>
            <a:pPr indent="0" marL="0">
              <a:spcAft>
                <a:spcPts val="700"/>
              </a:spcAft>
              <a:buNone/>
            </a:pPr>
            <a:r>
              <a:rPr lang="en-US" sz="1400" dirty="0">
                <a:solidFill>
                  <a:schemeClr val="tx2"/>
                </a:solidFill>
              </a:rPr>
              <a:t>일 최대 전용 예측과 피크 발생 확률 모델로 보완했다.</a:t>
            </a:r>
            <a:endParaRPr lang="en-US" sz="1400" dirty="0"/>
          </a:p>
          <a:p>
            <a:pPr marL="342900" indent="-342900">
              <a:spcAft>
                <a:spcPts val="700"/>
              </a:spcAft>
              <a:buSzPct val="100000"/>
              <a:buChar char="•"/>
            </a:pPr>
            <a:r>
              <a:rPr lang="en-US" sz="1400" b="1" dirty="0">
                <a:solidFill>
                  <a:schemeClr val="tx1"/>
                </a:solidFill>
              </a:rPr>
              <a:t>한 유형만 줄이면 일 최대는 거의 안 줄어든다: </a:t>
            </a:r>
            <a:pPr indent="0" marL="0">
              <a:spcAft>
                <a:spcPts val="700"/>
              </a:spcAft>
              <a:buNone/>
            </a:pPr>
            <a:r>
              <a:rPr lang="en-US" sz="1400" dirty="0">
                <a:solidFill>
                  <a:schemeClr val="tx2"/>
                </a:solidFill>
              </a:rPr>
              <a:t>조치 A 3.3 kW, 조치 B 4.5 kW, 동시 적용 11.5 kW.</a:t>
            </a:r>
            <a:endParaRPr lang="en-US" sz="1400" dirty="0"/>
          </a:p>
        </p:txBody>
      </p:sp>
      <p:sp>
        <p:nvSpPr>
          <p:cNvPr id="19" name="요구사항 대응 카드"/>
          <p:cNvSpPr/>
          <p:nvPr/>
        </p:nvSpPr>
        <p:spPr>
          <a:xfrm>
            <a:off x="548640" y="5120640"/>
            <a:ext cx="3566160" cy="1143000"/>
          </a:xfrm>
          <a:prstGeom prst="roundRect">
            <a:avLst>
              <a:gd name="adj" fmla="val 6400"/>
            </a:avLst>
          </a:prstGeom>
          <a:solidFill>
            <a:schemeClr val="bg2"/>
          </a:solidFill>
          <a:ln w="12700">
            <a:solidFill>
              <a:schemeClr val="bg2"/>
            </a:solidFill>
            <a:prstDash val="solid"/>
          </a:ln>
        </p:spPr>
      </p:sp>
      <p:sp>
        <p:nvSpPr>
          <p:cNvPr id="20" name="Text 17"/>
          <p:cNvSpPr txBox="1"/>
          <p:nvPr/>
        </p:nvSpPr>
        <p:spPr>
          <a:xfrm>
            <a:off x="749808" y="5230368"/>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요구 1. 전력사용량 예측</a:t>
            </a:r>
            <a:endParaRPr lang="en-US" sz="1400" dirty="0"/>
          </a:p>
        </p:txBody>
      </p:sp>
      <p:sp>
        <p:nvSpPr>
          <p:cNvPr id="21" name="Text 18"/>
          <p:cNvSpPr txBox="1"/>
          <p:nvPr/>
        </p:nvSpPr>
        <p:spPr>
          <a:xfrm>
            <a:off x="749808" y="5577840"/>
            <a:ext cx="3163824" cy="6400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11개 모델·설정 85가지·앙상블 5종 중 검증 오차가 가장 낮은 ExtraTrees로 하루 전 15분 예측. 일 최대와 피크 경보는 따로 보완</a:t>
            </a:r>
            <a:endParaRPr lang="en-US" sz="1200" dirty="0"/>
          </a:p>
        </p:txBody>
      </p:sp>
      <p:sp>
        <p:nvSpPr>
          <p:cNvPr id="22" name="요구사항 대응 카드"/>
          <p:cNvSpPr/>
          <p:nvPr/>
        </p:nvSpPr>
        <p:spPr>
          <a:xfrm>
            <a:off x="4311396" y="5120640"/>
            <a:ext cx="3566160" cy="1143000"/>
          </a:xfrm>
          <a:prstGeom prst="roundRect">
            <a:avLst>
              <a:gd name="adj" fmla="val 6400"/>
            </a:avLst>
          </a:prstGeom>
          <a:solidFill>
            <a:schemeClr val="bg2"/>
          </a:solidFill>
          <a:ln w="12700">
            <a:solidFill>
              <a:schemeClr val="bg2"/>
            </a:solidFill>
            <a:prstDash val="solid"/>
          </a:ln>
        </p:spPr>
      </p:sp>
      <p:sp>
        <p:nvSpPr>
          <p:cNvPr id="23" name="Text 20"/>
          <p:cNvSpPr txBox="1"/>
          <p:nvPr/>
        </p:nvSpPr>
        <p:spPr>
          <a:xfrm>
            <a:off x="4512564" y="5230368"/>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요구 2. 오차·피크 조건 분석</a:t>
            </a:r>
            <a:endParaRPr lang="en-US" sz="1400" dirty="0"/>
          </a:p>
        </p:txBody>
      </p:sp>
      <p:sp>
        <p:nvSpPr>
          <p:cNvPr id="24" name="Text 21"/>
          <p:cNvSpPr txBox="1"/>
          <p:nvPr/>
        </p:nvSpPr>
        <p:spPr>
          <a:xfrm>
            <a:off x="4512564" y="5577840"/>
            <a:ext cx="3163824" cy="6400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피크 시간·특수일·저녁에서 오차가 큼. 피크는 시작·재개 직후형과 가동 중형 두 유형</a:t>
            </a:r>
            <a:endParaRPr lang="en-US" sz="1200" dirty="0"/>
          </a:p>
        </p:txBody>
      </p:sp>
      <p:sp>
        <p:nvSpPr>
          <p:cNvPr id="25" name="요구사항 대응 카드"/>
          <p:cNvSpPr/>
          <p:nvPr/>
        </p:nvSpPr>
        <p:spPr>
          <a:xfrm>
            <a:off x="8074152" y="5120640"/>
            <a:ext cx="3566160" cy="1143000"/>
          </a:xfrm>
          <a:prstGeom prst="roundRect">
            <a:avLst>
              <a:gd name="adj" fmla="val 6400"/>
            </a:avLst>
          </a:prstGeom>
          <a:solidFill>
            <a:schemeClr val="bg2"/>
          </a:solidFill>
          <a:ln w="12700">
            <a:solidFill>
              <a:schemeClr val="bg2"/>
            </a:solidFill>
            <a:prstDash val="solid"/>
          </a:ln>
        </p:spPr>
      </p:sp>
      <p:sp>
        <p:nvSpPr>
          <p:cNvPr id="26" name="Text 23"/>
          <p:cNvSpPr txBox="1"/>
          <p:nvPr/>
        </p:nvSpPr>
        <p:spPr>
          <a:xfrm>
            <a:off x="8275320" y="5230368"/>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요구 3. 피크 저감방안</a:t>
            </a:r>
            <a:endParaRPr lang="en-US" sz="1400" dirty="0"/>
          </a:p>
        </p:txBody>
      </p:sp>
      <p:sp>
        <p:nvSpPr>
          <p:cNvPr id="27" name="Text 24"/>
          <p:cNvSpPr txBox="1"/>
          <p:nvPr/>
        </p:nvSpPr>
        <p:spPr>
          <a:xfrm>
            <a:off x="8275320" y="5577840"/>
            <a:ext cx="3163824" cy="6400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유형1은 설비 가동시점 분산, 유형2는 생산일정 저녁 이동. 예측에 연동해 운영</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과제의 세 요구사항을 7단계 분석으로 풀었다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과제 정의와 분석 흐름</a:t>
            </a:r>
            <a:endParaRPr lang="en-US" sz="1200" dirty="0"/>
          </a:p>
        </p:txBody>
      </p:sp>
      <p:sp>
        <p:nvSpPr>
          <p:cNvPr id="5" name="단계 카드"/>
          <p:cNvSpPr/>
          <p:nvPr/>
        </p:nvSpPr>
        <p:spPr>
          <a:xfrm>
            <a:off x="548640" y="1600200"/>
            <a:ext cx="1481328" cy="2057400"/>
          </a:xfrm>
          <a:prstGeom prst="roundRect">
            <a:avLst>
              <a:gd name="adj" fmla="val 4938"/>
            </a:avLst>
          </a:prstGeom>
          <a:solidFill>
            <a:schemeClr val="bg2"/>
          </a:solidFill>
          <a:ln w="12700">
            <a:solidFill>
              <a:schemeClr val="bg2"/>
            </a:solidFill>
            <a:prstDash val="solid"/>
          </a:ln>
        </p:spPr>
      </p:sp>
      <p:sp>
        <p:nvSpPr>
          <p:cNvPr id="6" name="단계 번호"/>
          <p:cNvSpPr/>
          <p:nvPr/>
        </p:nvSpPr>
        <p:spPr>
          <a:xfrm>
            <a:off x="731520" y="1783080"/>
            <a:ext cx="502920" cy="502920"/>
          </a:xfrm>
          <a:prstGeom prst="ellipse">
            <a:avLst/>
          </a:prstGeom>
          <a:solidFill>
            <a:schemeClr val="tx1"/>
          </a:solidFill>
          <a:ln w="12700">
            <a:solidFill>
              <a:schemeClr val="bg2"/>
            </a:solidFill>
            <a:prstDash val="solid"/>
          </a:ln>
        </p:spPr>
      </p:sp>
      <p:sp>
        <p:nvSpPr>
          <p:cNvPr id="7" name="Text 4"/>
          <p:cNvSpPr txBox="1"/>
          <p:nvPr/>
        </p:nvSpPr>
        <p:spPr>
          <a:xfrm>
            <a:off x="7315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0</a:t>
            </a:r>
            <a:endParaRPr lang="en-US" sz="1800" dirty="0"/>
          </a:p>
        </p:txBody>
      </p:sp>
      <p:sp>
        <p:nvSpPr>
          <p:cNvPr id="8" name="Text 5"/>
          <p:cNvSpPr txBox="1"/>
          <p:nvPr/>
        </p:nvSpPr>
        <p:spPr>
          <a:xfrm>
            <a:off x="7315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전처리·분할</a:t>
            </a:r>
            <a:endParaRPr lang="en-US" sz="1500" dirty="0"/>
          </a:p>
        </p:txBody>
      </p:sp>
      <p:sp>
        <p:nvSpPr>
          <p:cNvPr id="9" name="Text 6"/>
          <p:cNvSpPr txBox="1"/>
          <p:nvPr/>
        </p:nvSpPr>
        <p:spPr>
          <a:xfrm>
            <a:off x="7315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결측·이상치, 복사일, 누수 변수, 시간 순 분할</a:t>
            </a:r>
            <a:endParaRPr lang="en-US" sz="1200" dirty="0"/>
          </a:p>
        </p:txBody>
      </p:sp>
      <p:sp>
        <p:nvSpPr>
          <p:cNvPr id="10" name="단계 카드"/>
          <p:cNvSpPr/>
          <p:nvPr/>
        </p:nvSpPr>
        <p:spPr>
          <a:xfrm>
            <a:off x="2148840" y="1600200"/>
            <a:ext cx="1481328" cy="2057400"/>
          </a:xfrm>
          <a:prstGeom prst="roundRect">
            <a:avLst>
              <a:gd name="adj" fmla="val 4938"/>
            </a:avLst>
          </a:prstGeom>
          <a:solidFill>
            <a:schemeClr val="bg2"/>
          </a:solidFill>
          <a:ln w="12700">
            <a:solidFill>
              <a:schemeClr val="bg2"/>
            </a:solidFill>
            <a:prstDash val="solid"/>
          </a:ln>
        </p:spPr>
      </p:sp>
      <p:sp>
        <p:nvSpPr>
          <p:cNvPr id="11" name="단계 번호"/>
          <p:cNvSpPr/>
          <p:nvPr/>
        </p:nvSpPr>
        <p:spPr>
          <a:xfrm>
            <a:off x="2331720" y="1783080"/>
            <a:ext cx="502920" cy="502920"/>
          </a:xfrm>
          <a:prstGeom prst="ellipse">
            <a:avLst/>
          </a:prstGeom>
          <a:solidFill>
            <a:schemeClr val="accent1"/>
          </a:solidFill>
          <a:ln w="12700">
            <a:solidFill>
              <a:schemeClr val="bg2"/>
            </a:solidFill>
            <a:prstDash val="solid"/>
          </a:ln>
        </p:spPr>
      </p:sp>
      <p:sp>
        <p:nvSpPr>
          <p:cNvPr id="12" name="Text 9"/>
          <p:cNvSpPr txBox="1"/>
          <p:nvPr/>
        </p:nvSpPr>
        <p:spPr>
          <a:xfrm>
            <a:off x="23317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1</a:t>
            </a:r>
            <a:endParaRPr lang="en-US" sz="1800" dirty="0"/>
          </a:p>
        </p:txBody>
      </p:sp>
      <p:sp>
        <p:nvSpPr>
          <p:cNvPr id="13" name="Text 10"/>
          <p:cNvSpPr txBox="1"/>
          <p:nvPr/>
        </p:nvSpPr>
        <p:spPr>
          <a:xfrm>
            <a:off x="23317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전력 예측</a:t>
            </a:r>
            <a:endParaRPr lang="en-US" sz="1500" dirty="0"/>
          </a:p>
        </p:txBody>
      </p:sp>
      <p:sp>
        <p:nvSpPr>
          <p:cNvPr id="14" name="Text 11"/>
          <p:cNvSpPr txBox="1"/>
          <p:nvPr/>
        </p:nvSpPr>
        <p:spPr>
          <a:xfrm>
            <a:off x="23317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베이스라인 대 11개 모델, 탐색, 앙상블</a:t>
            </a:r>
            <a:endParaRPr lang="en-US" sz="1200" dirty="0"/>
          </a:p>
        </p:txBody>
      </p:sp>
      <p:sp>
        <p:nvSpPr>
          <p:cNvPr id="15" name="단계 카드"/>
          <p:cNvSpPr/>
          <p:nvPr/>
        </p:nvSpPr>
        <p:spPr>
          <a:xfrm>
            <a:off x="3749040" y="1600200"/>
            <a:ext cx="1481328" cy="2057400"/>
          </a:xfrm>
          <a:prstGeom prst="roundRect">
            <a:avLst>
              <a:gd name="adj" fmla="val 4938"/>
            </a:avLst>
          </a:prstGeom>
          <a:solidFill>
            <a:schemeClr val="bg2"/>
          </a:solidFill>
          <a:ln w="12700">
            <a:solidFill>
              <a:schemeClr val="bg2"/>
            </a:solidFill>
            <a:prstDash val="solid"/>
          </a:ln>
        </p:spPr>
      </p:sp>
      <p:sp>
        <p:nvSpPr>
          <p:cNvPr id="16" name="단계 번호"/>
          <p:cNvSpPr/>
          <p:nvPr/>
        </p:nvSpPr>
        <p:spPr>
          <a:xfrm>
            <a:off x="3931920" y="1783080"/>
            <a:ext cx="502920" cy="502920"/>
          </a:xfrm>
          <a:prstGeom prst="ellipse">
            <a:avLst/>
          </a:prstGeom>
          <a:solidFill>
            <a:schemeClr val="tx1"/>
          </a:solidFill>
          <a:ln w="12700">
            <a:solidFill>
              <a:schemeClr val="bg2"/>
            </a:solidFill>
            <a:prstDash val="solid"/>
          </a:ln>
        </p:spPr>
      </p:sp>
      <p:sp>
        <p:nvSpPr>
          <p:cNvPr id="17" name="Text 14"/>
          <p:cNvSpPr txBox="1"/>
          <p:nvPr/>
        </p:nvSpPr>
        <p:spPr>
          <a:xfrm>
            <a:off x="39319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2</a:t>
            </a:r>
            <a:endParaRPr lang="en-US" sz="1800" dirty="0"/>
          </a:p>
        </p:txBody>
      </p:sp>
      <p:sp>
        <p:nvSpPr>
          <p:cNvPr id="18" name="Text 15"/>
          <p:cNvSpPr txBox="1"/>
          <p:nvPr/>
        </p:nvSpPr>
        <p:spPr>
          <a:xfrm>
            <a:off x="39319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예측오차 분석</a:t>
            </a:r>
            <a:endParaRPr lang="en-US" sz="1500" dirty="0"/>
          </a:p>
        </p:txBody>
      </p:sp>
      <p:sp>
        <p:nvSpPr>
          <p:cNvPr id="19" name="Text 16"/>
          <p:cNvSpPr txBox="1"/>
          <p:nvPr/>
        </p:nvSpPr>
        <p:spPr>
          <a:xfrm>
            <a:off x="39319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피크 시간, 조건별, 놓친 피크·헛경보</a:t>
            </a:r>
            <a:endParaRPr lang="en-US" sz="1200" dirty="0"/>
          </a:p>
        </p:txBody>
      </p:sp>
      <p:sp>
        <p:nvSpPr>
          <p:cNvPr id="20" name="단계 카드"/>
          <p:cNvSpPr/>
          <p:nvPr/>
        </p:nvSpPr>
        <p:spPr>
          <a:xfrm>
            <a:off x="5349240" y="1600200"/>
            <a:ext cx="1481328" cy="2057400"/>
          </a:xfrm>
          <a:prstGeom prst="roundRect">
            <a:avLst>
              <a:gd name="adj" fmla="val 4938"/>
            </a:avLst>
          </a:prstGeom>
          <a:solidFill>
            <a:schemeClr val="bg2"/>
          </a:solidFill>
          <a:ln w="12700">
            <a:solidFill>
              <a:schemeClr val="bg2"/>
            </a:solidFill>
            <a:prstDash val="solid"/>
          </a:ln>
        </p:spPr>
      </p:sp>
      <p:sp>
        <p:nvSpPr>
          <p:cNvPr id="21" name="단계 번호"/>
          <p:cNvSpPr/>
          <p:nvPr/>
        </p:nvSpPr>
        <p:spPr>
          <a:xfrm>
            <a:off x="5532120" y="1783080"/>
            <a:ext cx="502920" cy="502920"/>
          </a:xfrm>
          <a:prstGeom prst="ellipse">
            <a:avLst/>
          </a:prstGeom>
          <a:solidFill>
            <a:schemeClr val="tx1"/>
          </a:solidFill>
          <a:ln w="12700">
            <a:solidFill>
              <a:schemeClr val="bg2"/>
            </a:solidFill>
            <a:prstDash val="solid"/>
          </a:ln>
        </p:spPr>
      </p:sp>
      <p:sp>
        <p:nvSpPr>
          <p:cNvPr id="22" name="Text 19"/>
          <p:cNvSpPr txBox="1"/>
          <p:nvPr/>
        </p:nvSpPr>
        <p:spPr>
          <a:xfrm>
            <a:off x="55321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3</a:t>
            </a:r>
            <a:endParaRPr lang="en-US" sz="1800" dirty="0"/>
          </a:p>
        </p:txBody>
      </p:sp>
      <p:sp>
        <p:nvSpPr>
          <p:cNvPr id="23" name="Text 20"/>
          <p:cNvSpPr txBox="1"/>
          <p:nvPr/>
        </p:nvSpPr>
        <p:spPr>
          <a:xfrm>
            <a:off x="55321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피크 추출</a:t>
            </a:r>
            <a:endParaRPr lang="en-US" sz="1500" dirty="0"/>
          </a:p>
        </p:txBody>
      </p:sp>
      <p:sp>
        <p:nvSpPr>
          <p:cNvPr id="24" name="Text 21"/>
          <p:cNvSpPr txBox="1"/>
          <p:nvPr/>
        </p:nvSpPr>
        <p:spPr>
          <a:xfrm>
            <a:off x="55321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180 kW 이상 연속 구간</a:t>
            </a:r>
            <a:endParaRPr lang="en-US" sz="1200" dirty="0"/>
          </a:p>
        </p:txBody>
      </p:sp>
      <p:sp>
        <p:nvSpPr>
          <p:cNvPr id="25" name="단계 카드"/>
          <p:cNvSpPr/>
          <p:nvPr/>
        </p:nvSpPr>
        <p:spPr>
          <a:xfrm>
            <a:off x="6949440" y="1600200"/>
            <a:ext cx="1481328" cy="2057400"/>
          </a:xfrm>
          <a:prstGeom prst="roundRect">
            <a:avLst>
              <a:gd name="adj" fmla="val 4938"/>
            </a:avLst>
          </a:prstGeom>
          <a:solidFill>
            <a:schemeClr val="bg2"/>
          </a:solidFill>
          <a:ln w="12700">
            <a:solidFill>
              <a:schemeClr val="bg2"/>
            </a:solidFill>
            <a:prstDash val="solid"/>
          </a:ln>
        </p:spPr>
      </p:sp>
      <p:sp>
        <p:nvSpPr>
          <p:cNvPr id="26" name="단계 번호"/>
          <p:cNvSpPr/>
          <p:nvPr/>
        </p:nvSpPr>
        <p:spPr>
          <a:xfrm>
            <a:off x="7132320" y="1783080"/>
            <a:ext cx="502920" cy="502920"/>
          </a:xfrm>
          <a:prstGeom prst="ellipse">
            <a:avLst/>
          </a:prstGeom>
          <a:solidFill>
            <a:schemeClr val="tx1"/>
          </a:solidFill>
          <a:ln w="12700">
            <a:solidFill>
              <a:schemeClr val="bg2"/>
            </a:solidFill>
            <a:prstDash val="solid"/>
          </a:ln>
        </p:spPr>
      </p:sp>
      <p:sp>
        <p:nvSpPr>
          <p:cNvPr id="27" name="Text 24"/>
          <p:cNvSpPr txBox="1"/>
          <p:nvPr/>
        </p:nvSpPr>
        <p:spPr>
          <a:xfrm>
            <a:off x="71323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4</a:t>
            </a:r>
            <a:endParaRPr lang="en-US" sz="1800" dirty="0"/>
          </a:p>
        </p:txBody>
      </p:sp>
      <p:sp>
        <p:nvSpPr>
          <p:cNvPr id="28" name="Text 25"/>
          <p:cNvSpPr txBox="1"/>
          <p:nvPr/>
        </p:nvSpPr>
        <p:spPr>
          <a:xfrm>
            <a:off x="71323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피크 두 유형</a:t>
            </a:r>
            <a:endParaRPr lang="en-US" sz="1500" dirty="0"/>
          </a:p>
        </p:txBody>
      </p:sp>
      <p:sp>
        <p:nvSpPr>
          <p:cNvPr id="29" name="Text 26"/>
          <p:cNvSpPr txBox="1"/>
          <p:nvPr/>
        </p:nvSpPr>
        <p:spPr>
          <a:xfrm>
            <a:off x="71323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상승폭·지속시간·직전 부하</a:t>
            </a:r>
            <a:endParaRPr lang="en-US" sz="1200" dirty="0"/>
          </a:p>
        </p:txBody>
      </p:sp>
      <p:sp>
        <p:nvSpPr>
          <p:cNvPr id="30" name="단계 카드"/>
          <p:cNvSpPr/>
          <p:nvPr/>
        </p:nvSpPr>
        <p:spPr>
          <a:xfrm>
            <a:off x="8549640" y="1600200"/>
            <a:ext cx="1481328" cy="2057400"/>
          </a:xfrm>
          <a:prstGeom prst="roundRect">
            <a:avLst>
              <a:gd name="adj" fmla="val 4938"/>
            </a:avLst>
          </a:prstGeom>
          <a:solidFill>
            <a:schemeClr val="bg2"/>
          </a:solidFill>
          <a:ln w="12700">
            <a:solidFill>
              <a:schemeClr val="bg2"/>
            </a:solidFill>
            <a:prstDash val="solid"/>
          </a:ln>
        </p:spPr>
      </p:sp>
      <p:sp>
        <p:nvSpPr>
          <p:cNvPr id="31" name="단계 번호"/>
          <p:cNvSpPr/>
          <p:nvPr/>
        </p:nvSpPr>
        <p:spPr>
          <a:xfrm>
            <a:off x="8732520" y="1783080"/>
            <a:ext cx="502920" cy="502920"/>
          </a:xfrm>
          <a:prstGeom prst="ellipse">
            <a:avLst/>
          </a:prstGeom>
          <a:solidFill>
            <a:schemeClr val="tx1"/>
          </a:solidFill>
          <a:ln w="12700">
            <a:solidFill>
              <a:schemeClr val="bg2"/>
            </a:solidFill>
            <a:prstDash val="solid"/>
          </a:ln>
        </p:spPr>
      </p:sp>
      <p:sp>
        <p:nvSpPr>
          <p:cNvPr id="32" name="Text 29"/>
          <p:cNvSpPr txBox="1"/>
          <p:nvPr/>
        </p:nvSpPr>
        <p:spPr>
          <a:xfrm>
            <a:off x="87325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5</a:t>
            </a:r>
            <a:endParaRPr lang="en-US" sz="1800" dirty="0"/>
          </a:p>
        </p:txBody>
      </p:sp>
      <p:sp>
        <p:nvSpPr>
          <p:cNvPr id="33" name="Text 30"/>
          <p:cNvSpPr txBox="1"/>
          <p:nvPr/>
        </p:nvSpPr>
        <p:spPr>
          <a:xfrm>
            <a:off x="87325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유형별 조건</a:t>
            </a:r>
            <a:endParaRPr lang="en-US" sz="1500" dirty="0"/>
          </a:p>
        </p:txBody>
      </p:sp>
      <p:sp>
        <p:nvSpPr>
          <p:cNvPr id="34" name="Text 31"/>
          <p:cNvSpPr txBox="1"/>
          <p:nvPr/>
        </p:nvSpPr>
        <p:spPr>
          <a:xfrm>
            <a:off x="87325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시각, 생산량, 운영상태, 기온</a:t>
            </a:r>
            <a:endParaRPr lang="en-US" sz="1200" dirty="0"/>
          </a:p>
        </p:txBody>
      </p:sp>
      <p:sp>
        <p:nvSpPr>
          <p:cNvPr id="35" name="단계 카드"/>
          <p:cNvSpPr/>
          <p:nvPr/>
        </p:nvSpPr>
        <p:spPr>
          <a:xfrm>
            <a:off x="10149840" y="1600200"/>
            <a:ext cx="1481328" cy="2057400"/>
          </a:xfrm>
          <a:prstGeom prst="roundRect">
            <a:avLst>
              <a:gd name="adj" fmla="val 4938"/>
            </a:avLst>
          </a:prstGeom>
          <a:solidFill>
            <a:schemeClr val="bg2"/>
          </a:solidFill>
          <a:ln w="12700">
            <a:solidFill>
              <a:schemeClr val="bg2"/>
            </a:solidFill>
            <a:prstDash val="solid"/>
          </a:ln>
        </p:spPr>
      </p:sp>
      <p:sp>
        <p:nvSpPr>
          <p:cNvPr id="36" name="단계 번호"/>
          <p:cNvSpPr/>
          <p:nvPr/>
        </p:nvSpPr>
        <p:spPr>
          <a:xfrm>
            <a:off x="10332720" y="1783080"/>
            <a:ext cx="502920" cy="502920"/>
          </a:xfrm>
          <a:prstGeom prst="ellipse">
            <a:avLst/>
          </a:prstGeom>
          <a:solidFill>
            <a:schemeClr val="accent1"/>
          </a:solidFill>
          <a:ln w="12700">
            <a:solidFill>
              <a:schemeClr val="bg2"/>
            </a:solidFill>
            <a:prstDash val="solid"/>
          </a:ln>
        </p:spPr>
      </p:sp>
      <p:sp>
        <p:nvSpPr>
          <p:cNvPr id="37" name="Text 34"/>
          <p:cNvSpPr txBox="1"/>
          <p:nvPr/>
        </p:nvSpPr>
        <p:spPr>
          <a:xfrm>
            <a:off x="10332720" y="1783080"/>
            <a:ext cx="502920" cy="502920"/>
          </a:xfrm>
          <a:prstGeom prst="rect">
            <a:avLst/>
          </a:prstGeom>
          <a:noFill/>
          <a:ln/>
        </p:spPr>
        <p:txBody>
          <a:bodyPr wrap="square" lIns="0" tIns="0" rIns="0" bIns="0" rtlCol="0" anchor="ctr"/>
          <a:lstStyle/>
          <a:p>
            <a:pPr algn="ctr" indent="0" marL="0">
              <a:spcAft>
                <a:spcPts val="500"/>
              </a:spcAft>
              <a:buNone/>
            </a:pPr>
            <a:r>
              <a:rPr lang="en-US" sz="1800" b="1" dirty="0">
                <a:solidFill>
                  <a:schemeClr val="bg1"/>
                </a:solidFill>
              </a:rPr>
              <a:t>6</a:t>
            </a:r>
            <a:endParaRPr lang="en-US" sz="1800" dirty="0"/>
          </a:p>
        </p:txBody>
      </p:sp>
      <p:sp>
        <p:nvSpPr>
          <p:cNvPr id="38" name="Text 35"/>
          <p:cNvSpPr txBox="1"/>
          <p:nvPr/>
        </p:nvSpPr>
        <p:spPr>
          <a:xfrm>
            <a:off x="10332720" y="2423160"/>
            <a:ext cx="12070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저감방안</a:t>
            </a:r>
            <a:endParaRPr lang="en-US" sz="1500" dirty="0"/>
          </a:p>
        </p:txBody>
      </p:sp>
      <p:sp>
        <p:nvSpPr>
          <p:cNvPr id="39" name="Text 36"/>
          <p:cNvSpPr txBox="1"/>
          <p:nvPr/>
        </p:nvSpPr>
        <p:spPr>
          <a:xfrm>
            <a:off x="10332720" y="2788920"/>
            <a:ext cx="1207008" cy="82296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유형별 조치, 예측 연동 운영</a:t>
            </a:r>
            <a:endParaRPr lang="en-US" sz="1200" dirty="0"/>
          </a:p>
        </p:txBody>
      </p:sp>
      <p:graphicFrame>
        <p:nvGraphicFramePr>
          <p:cNvPr id="4" name="표"/>
          <p:cNvGraphicFramePr>
            <a:graphicFrameLocks noGrp="1"/>
          </p:cNvGraphicFramePr>
          <p:nvPr>
            <p:extLst>
              <p:ext uri="{D42A27DB-BD31-4B8C-83A1-F6EECF244321}">
                <p14:modId xmlns:p14="http://schemas.microsoft.com/office/powerpoint/2010/main" val="1579011935"/>
              </p:ext>
            </p:extLst>
          </p:nvPr>
        </p:nvGraphicFramePr>
        <p:xfrm>
          <a:off x="548640" y="3977640"/>
          <a:ext cx="11091672" cy="914400"/>
        </p:xfrm>
        <a:graphic>
          <a:graphicData uri="http://schemas.openxmlformats.org/drawingml/2006/table">
            <a:tbl>
              <a:tblPr/>
              <a:tblGrid>
                <a:gridCol w="1828800"/>
                <a:gridCol w="4754880"/>
                <a:gridCol w="4507992"/>
              </a:tblGrid>
              <a:tr h="384048">
                <a:tc>
                  <a:txBody>
                    <a:bodyPr/>
                    <a:lstStyle/>
                    <a:p>
                      <a:pPr algn="l" indent="0" marL="0">
                        <a:buNone/>
                      </a:pPr>
                      <a:r>
                        <a:rPr lang="en-US" sz="1300" b="1" dirty="0">
                          <a:solidFill>
                            <a:schemeClr val="bg1"/>
                          </a:solidFill>
                        </a:rPr>
                        <a:t>항목</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이 분석의 정의</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근거</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2"/>
                          </a:solidFill>
                        </a:rPr>
                        <a:t>예측 대상</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15분 단위 최대수요전력, 하루 96개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한전 기본요금이 15분 최대수요전력 기준</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예측 시점</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전날 24시에 다음 날 하루 전체</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생산일정을 바꿀 수 있는 마지막 시점</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2"/>
                          </a:solidFill>
                        </a:rPr>
                        <a:t>시험 구간</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2021-09-01~14 (1,342개 15분 슬롯)</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가이드북 실습과 같은 구간, 마지막에 한 번만 평가</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피크 정의</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15분 최대수요전력 180 kW 이상</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180 kW 이상 슬롯이 전체의 5.0%(상위 5%)</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단계 번호"/>
          <p:cNvSpPr/>
          <p:nvPr/>
        </p:nvSpPr>
        <p:spPr>
          <a:xfrm>
            <a:off x="822960" y="2423160"/>
            <a:ext cx="1188720" cy="1188720"/>
          </a:xfrm>
          <a:prstGeom prst="ellipse">
            <a:avLst/>
          </a:prstGeom>
          <a:solidFill>
            <a:schemeClr val="accent1"/>
          </a:solidFill>
          <a:ln w="12700">
            <a:solidFill>
              <a:schemeClr val="accent1"/>
            </a:solidFill>
            <a:prstDash val="solid"/>
          </a:ln>
        </p:spPr>
      </p:sp>
      <p:sp>
        <p:nvSpPr>
          <p:cNvPr id="3" name="Text 1"/>
          <p:cNvSpPr txBox="1"/>
          <p:nvPr/>
        </p:nvSpPr>
        <p:spPr>
          <a:xfrm>
            <a:off x="822960" y="2423160"/>
            <a:ext cx="1188720" cy="1188720"/>
          </a:xfrm>
          <a:prstGeom prst="rect">
            <a:avLst/>
          </a:prstGeom>
          <a:noFill/>
          <a:ln/>
        </p:spPr>
        <p:txBody>
          <a:bodyPr wrap="square" lIns="0" tIns="0" rIns="0" bIns="0" rtlCol="0" anchor="ctr"/>
          <a:lstStyle/>
          <a:p>
            <a:pPr algn="ctr" indent="0" marL="0">
              <a:buNone/>
            </a:pPr>
            <a:r>
              <a:rPr lang="en-US" sz="4800" b="1" dirty="0">
                <a:solidFill>
                  <a:schemeClr val="tx1"/>
                </a:solidFill>
              </a:rPr>
              <a:t>0</a:t>
            </a:r>
            <a:endParaRPr lang="en-US" sz="4800" dirty="0"/>
          </a:p>
        </p:txBody>
      </p:sp>
      <p:sp>
        <p:nvSpPr>
          <p:cNvPr id="4" name="Text 0"/>
          <p:cNvSpPr/>
          <p:nvPr>
            <p:ph idx="100" type="title" hasCustomPrompt="1"/>
          </p:nvPr>
        </p:nvSpPr>
        <p:spPr>
          <a:xfrm>
            <a:off x="2377440" y="2468880"/>
            <a:ext cx="8961120" cy="1005840"/>
          </a:xfrm>
          <a:prstGeom prst="rect">
            <a:avLst/>
          </a:prstGeom>
          <a:noFill/>
          <a:ln/>
        </p:spPr>
        <p:txBody>
          <a:bodyPr wrap="square" lIns="0" tIns="0" rIns="0" bIns="0" rtlCol="0" anchor="t"/>
          <a:lstStyle/>
          <a:p>
            <a:pPr algn="l" indent="0" marL="0">
              <a:buNone/>
            </a:pPr>
            <a:r>
              <a:rPr lang="en-US" sz="3800" b="1" dirty="0">
                <a:solidFill>
                  <a:schemeClr val="bg1"/>
                </a:solidFill>
              </a:rPr>
              <a:t>데이터 전처리 및 분할</a:t>
            </a:r>
            <a:endParaRPr lang="en-US" sz="3800" dirty="0"/>
          </a:p>
        </p:txBody>
      </p:sp>
      <p:sp>
        <p:nvSpPr>
          <p:cNvPr id="5" name="Text 0"/>
          <p:cNvSpPr/>
          <p:nvPr>
            <p:ph idx="101" type="body" hasCustomPrompt="1"/>
          </p:nvPr>
        </p:nvSpPr>
        <p:spPr>
          <a:xfrm>
            <a:off x="2377440" y="3611880"/>
            <a:ext cx="8961120" cy="1463040"/>
          </a:xfrm>
          <a:prstGeom prst="rect">
            <a:avLst/>
          </a:prstGeom>
          <a:noFill/>
          <a:ln/>
        </p:spPr>
        <p:txBody>
          <a:bodyPr wrap="square" lIns="0" tIns="0" rIns="0" bIns="0" rtlCol="0" anchor="t"/>
          <a:lstStyle/>
          <a:p>
            <a:pPr indent="0" marL="0">
              <a:buNone/>
            </a:pPr>
            <a:r>
              <a:rPr lang="en-US" sz="1700" dirty="0">
                <a:solidFill>
                  <a:schemeClr val="accent6"/>
                </a:solidFill>
              </a:rPr>
              <a:t>결측·이상치 처리, 중복 데이터 확인, 누수 변수 제거, 시간 순 Train / Valid / Test 분할</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1행은 공장 전체의 1시간이고, 예측 단위는 그 안의 15분이다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0단계 · 데이터 구조와 변수 의미</a:t>
            </a:r>
            <a:endParaRPr lang="en-US" sz="1200" dirty="0"/>
          </a:p>
        </p:txBody>
      </p:sp>
      <p:graphicFrame>
        <p:nvGraphicFramePr>
          <p:cNvPr id="6" name="표"/>
          <p:cNvGraphicFramePr>
            <a:graphicFrameLocks noGrp="1"/>
          </p:cNvGraphicFramePr>
          <p:nvPr>
            <p:extLst>
              <p:ext uri="{D42A27DB-BD31-4B8C-83A1-F6EECF244321}">
                <p14:modId xmlns:p14="http://schemas.microsoft.com/office/powerpoint/2010/main" val="1579011935"/>
              </p:ext>
            </p:extLst>
          </p:nvPr>
        </p:nvGraphicFramePr>
        <p:xfrm>
          <a:off x="548640" y="1508760"/>
          <a:ext cx="6949440" cy="914400"/>
        </p:xfrm>
        <a:graphic>
          <a:graphicData uri="http://schemas.openxmlformats.org/drawingml/2006/table">
            <a:tbl>
              <a:tblPr/>
              <a:tblGrid>
                <a:gridCol w="822960"/>
                <a:gridCol w="2011680"/>
                <a:gridCol w="2514600"/>
                <a:gridCol w="1600200"/>
              </a:tblGrid>
              <a:tr h="384048">
                <a:tc>
                  <a:txBody>
                    <a:bodyPr/>
                    <a:lstStyle/>
                    <a:p>
                      <a:pPr algn="l" indent="0" marL="0">
                        <a:buNone/>
                      </a:pPr>
                      <a:r>
                        <a:rPr lang="en-US" sz="1200" b="1" dirty="0">
                          <a:solidFill>
                            <a:schemeClr val="bg1"/>
                          </a:solidFill>
                        </a:rPr>
                        <a:t>묶음</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컬럼</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의미</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모델에서의 역할</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84048">
                <a:tc>
                  <a:txBody>
                    <a:bodyPr/>
                    <a:lstStyle/>
                    <a:p>
                      <a:pPr indent="0" marL="0">
                        <a:buNone/>
                      </a:pPr>
                      <a:r>
                        <a:rPr lang="en-US" sz="1200" dirty="0">
                          <a:solidFill>
                            <a:schemeClr val="tx2"/>
                          </a:solidFill>
                        </a:rPr>
                        <a:t>전력</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15분·30분·45분·60분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해당 시간의 15분 구간별 최대수요전력(kW)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예측 대상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2"/>
                          </a:solidFill>
                        </a:rPr>
                        <a:t>전력</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평균</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위 4개 값의 평균</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제외(목표값에서 계산됨)</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2"/>
                          </a:solidFill>
                        </a:rPr>
                        <a:t>생산</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생산량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해당 시점에 생산해야 할 생산량(ERP 계획)</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핵심 입력(사전에 아는 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2"/>
                          </a:solidFill>
                        </a:rPr>
                        <a:t>생산</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공장인원</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생산량 ÷ (4구간 전력 합)과 정확히 일치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제외(정답에서 계산됨)</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2"/>
                          </a:solidFill>
                        </a:rPr>
                        <a:t>기상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기온·풍속·습도·강수량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기상청 관측값(강수량은 일 누적)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입력(예보의 대리변수)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2"/>
                          </a:solidFill>
                        </a:rPr>
                        <a:t>달력</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날짜·시간·day·d·m</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요일은 날짜와 100% 일치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입력</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2"/>
                          </a:solidFill>
                        </a:rPr>
                        <a:t>비용</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전기요금(계절)·인건비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월·시각만으로 결정되는 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제외(월·시각과 중복)</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6" name="관계 카드"/>
          <p:cNvSpPr/>
          <p:nvPr/>
        </p:nvSpPr>
        <p:spPr>
          <a:xfrm>
            <a:off x="7772400" y="1508760"/>
            <a:ext cx="3867912" cy="4617720"/>
          </a:xfrm>
          <a:prstGeom prst="roundRect">
            <a:avLst>
              <a:gd name="adj" fmla="val 1891"/>
            </a:avLst>
          </a:prstGeom>
          <a:solidFill>
            <a:schemeClr val="bg2"/>
          </a:solidFill>
          <a:ln w="12700">
            <a:solidFill>
              <a:schemeClr val="bg2"/>
            </a:solidFill>
            <a:prstDash val="solid"/>
          </a:ln>
        </p:spPr>
      </p:sp>
      <p:sp>
        <p:nvSpPr>
          <p:cNvPr id="7" name="Text 3"/>
          <p:cNvSpPr txBox="1"/>
          <p:nvPr/>
        </p:nvSpPr>
        <p:spPr>
          <a:xfrm>
            <a:off x="8001000" y="1673352"/>
            <a:ext cx="3474720"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생산단위와 시간·설비·제품 간 관계</a:t>
            </a:r>
            <a:endParaRPr lang="en-US" sz="1500" dirty="0"/>
          </a:p>
        </p:txBody>
      </p:sp>
      <p:sp>
        <p:nvSpPr>
          <p:cNvPr id="8" name="Text 4"/>
          <p:cNvSpPr txBox="1"/>
          <p:nvPr/>
        </p:nvSpPr>
        <p:spPr>
          <a:xfrm>
            <a:off x="8001000" y="2103120"/>
            <a:ext cx="3429000" cy="393192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생산단위: </a:t>
            </a:r>
            <a:pPr indent="0" marL="0">
              <a:spcAft>
                <a:spcPts val="700"/>
              </a:spcAft>
              <a:buNone/>
            </a:pPr>
            <a:r>
              <a:rPr lang="en-US" sz="1300" dirty="0">
                <a:solidFill>
                  <a:schemeClr val="tx2"/>
                </a:solidFill>
              </a:rPr>
              <a:t>257일 × 24시간 = 6,168행. 생산량은 시간당 계획 개수</a:t>
            </a:r>
            <a:endParaRPr lang="en-US" sz="1300" dirty="0"/>
          </a:p>
          <a:p>
            <a:pPr marL="342900" indent="-342900">
              <a:spcAft>
                <a:spcPts val="700"/>
              </a:spcAft>
              <a:buSzPct val="100000"/>
              <a:buChar char="•"/>
            </a:pPr>
            <a:r>
              <a:rPr lang="en-US" sz="1300" b="1" dirty="0">
                <a:solidFill>
                  <a:schemeClr val="tx1"/>
                </a:solidFill>
              </a:rPr>
              <a:t>시간: </a:t>
            </a:r>
            <a:pPr indent="0" marL="0">
              <a:spcAft>
                <a:spcPts val="700"/>
              </a:spcAft>
              <a:buNone/>
            </a:pPr>
            <a:r>
              <a:rPr lang="en-US" sz="1300" dirty="0">
                <a:solidFill>
                  <a:schemeClr val="tx2"/>
                </a:solidFill>
              </a:rPr>
              <a:t>15분 4개 → 1시간 → 하루 24행. 15분 슬롯 24,672개로 펼쳐 분석</a:t>
            </a:r>
            <a:endParaRPr lang="en-US" sz="1300" dirty="0"/>
          </a:p>
          <a:p>
            <a:pPr marL="342900" indent="-342900">
              <a:spcAft>
                <a:spcPts val="700"/>
              </a:spcAft>
              <a:buSzPct val="100000"/>
              <a:buChar char="•"/>
            </a:pPr>
            <a:r>
              <a:rPr lang="en-US" sz="1300" b="1" dirty="0">
                <a:solidFill>
                  <a:schemeClr val="tx1"/>
                </a:solidFill>
              </a:rPr>
              <a:t>설비: </a:t>
            </a:r>
            <a:pPr indent="0" marL="0">
              <a:spcAft>
                <a:spcPts val="700"/>
              </a:spcAft>
              <a:buNone/>
            </a:pPr>
            <a:r>
              <a:rPr lang="en-US" sz="1300" dirty="0">
                <a:solidFill>
                  <a:schemeClr val="tx2"/>
                </a:solidFill>
              </a:rPr>
              <a:t>전력은 변압기 한 곳의 공장 전체 합계. 설비 상태는 시각·생산계획으로 간접 파악</a:t>
            </a:r>
            <a:endParaRPr lang="en-US" sz="1300" dirty="0"/>
          </a:p>
          <a:p>
            <a:pPr marL="342900" indent="-342900">
              <a:spcAft>
                <a:spcPts val="700"/>
              </a:spcAft>
              <a:buSzPct val="100000"/>
              <a:buChar char="•"/>
            </a:pPr>
            <a:r>
              <a:rPr lang="en-US" sz="1300" b="1" dirty="0">
                <a:solidFill>
                  <a:schemeClr val="tx1"/>
                </a:solidFill>
              </a:rPr>
              <a:t>제품: </a:t>
            </a:r>
            <a:pPr indent="0" marL="0">
              <a:spcAft>
                <a:spcPts val="700"/>
              </a:spcAft>
              <a:buNone/>
            </a:pPr>
            <a:r>
              <a:rPr lang="en-US" sz="1300" dirty="0">
                <a:solidFill>
                  <a:schemeClr val="tx2"/>
                </a:solidFill>
              </a:rPr>
              <a:t>제품 구분 컬럼 없음. 제품 전환은 시간당 계획량 변화로만 반영</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이상값은 근거를 확인한 뒤 제외하거나 변환했다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0단계 · 결측·이상치 진단과 처리</a:t>
            </a:r>
            <a:endParaRPr lang="en-US" sz="1200" dirty="0"/>
          </a:p>
        </p:txBody>
      </p:sp>
      <p:graphicFrame>
        <p:nvGraphicFramePr>
          <p:cNvPr id="7" name="표"/>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103120"/>
                <a:gridCol w="2377440"/>
                <a:gridCol w="5029200"/>
                <a:gridCol w="1581912"/>
              </a:tblGrid>
              <a:tr h="438912">
                <a:tc>
                  <a:txBody>
                    <a:bodyPr/>
                    <a:lstStyle/>
                    <a:p>
                      <a:pPr algn="l" indent="0" marL="0">
                        <a:buNone/>
                      </a:pPr>
                      <a:r>
                        <a:rPr lang="en-US" sz="1200" b="1" dirty="0">
                          <a:solidFill>
                            <a:schemeClr val="bg1"/>
                          </a:solidFill>
                        </a:rPr>
                        <a:t>항목</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범위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근거</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처리</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438912">
                <a:tc>
                  <a:txBody>
                    <a:bodyPr/>
                    <a:lstStyle/>
                    <a:p>
                      <a:pPr indent="0" marL="0">
                        <a:buNone/>
                      </a:pPr>
                      <a:r>
                        <a:rPr lang="en-US" sz="1200" b="1" dirty="0">
                          <a:solidFill>
                            <a:schemeClr val="tx1"/>
                          </a:solidFill>
                        </a:rPr>
                        <a:t>시간 손상·행 정렬 오류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07-13, 07-15 (48행)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시간에 70~188 값. 그 값 순서로 행이 정렬돼 실제 시각 불명. 기상 매칭 복원도 정상 모양과 불일치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두 날 전력 제외</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1"/>
                          </a:solidFill>
                        </a:rPr>
                        <a:t>전력 0 연속 구간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08-28 18시~08-29 10시 (17행)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4개 값 모두 0, 공장인원도 결측</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결측 처리</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15분 단발 0값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6개 슬롯</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대기전력(약 21 kW)보다 낮아 물리적으로 불가능</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결측 처리</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1"/>
                          </a:solidFill>
                        </a:rPr>
                        <a:t>강수량 누적값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전 기간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1시에 초기화, 0시 행에 전날 합계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시간 강수량으로 변환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1"/>
                          </a:solidFill>
                        </a:rPr>
                        <a:t>산발 결측</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풍속 3, 강수량 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드문 결측</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보간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pic>
        <p:nvPicPr>
          <p:cNvPr id="6" name="요일별 평균 15분 프로파일과 생산계획 대 전력" descr="요일별 평균 15분 프로파일과 생산계획 대 전력">    </p:cNvPr>
          <p:cNvPicPr>
            <a:picLocks noChangeAspect="1"/>
          </p:cNvPicPr>
          <p:nvPr/>
        </p:nvPicPr>
        <p:blipFill>
          <a:blip r:embed="rId1"/>
          <a:stretch>
            <a:fillRect/>
          </a:stretch>
        </p:blipFill>
        <p:spPr>
          <a:xfrm>
            <a:off x="1581528" y="4709160"/>
            <a:ext cx="4883664" cy="1600200"/>
          </a:xfrm>
          <a:prstGeom prst="rect">
            <a:avLst/>
          </a:prstGeom>
        </p:spPr>
      </p:pic>
      <p:sp>
        <p:nvSpPr>
          <p:cNvPr id="7" name="가동 패턴 카드"/>
          <p:cNvSpPr/>
          <p:nvPr/>
        </p:nvSpPr>
        <p:spPr>
          <a:xfrm>
            <a:off x="7772400" y="4709160"/>
            <a:ext cx="3867912" cy="1600200"/>
          </a:xfrm>
          <a:prstGeom prst="roundRect">
            <a:avLst>
              <a:gd name="adj" fmla="val 4571"/>
            </a:avLst>
          </a:prstGeom>
          <a:solidFill>
            <a:schemeClr val="bg2"/>
          </a:solidFill>
          <a:ln w="12700">
            <a:solidFill>
              <a:schemeClr val="bg2"/>
            </a:solidFill>
            <a:prstDash val="solid"/>
          </a:ln>
        </p:spPr>
      </p:sp>
      <p:sp>
        <p:nvSpPr>
          <p:cNvPr id="8" name="Text 3"/>
          <p:cNvSpPr txBox="1"/>
          <p:nvPr/>
        </p:nvSpPr>
        <p:spPr>
          <a:xfrm>
            <a:off x="7955280" y="4828032"/>
            <a:ext cx="3520440" cy="1417320"/>
          </a:xfrm>
          <a:prstGeom prst="rect">
            <a:avLst/>
          </a:prstGeom>
          <a:noFill/>
          <a:ln/>
        </p:spPr>
        <p:txBody>
          <a:bodyPr wrap="square" lIns="0" tIns="0" rIns="0" bIns="0" rtlCol="0" anchor="t"/>
          <a:lstStyle/>
          <a:p>
            <a:pPr indent="0" marL="0">
              <a:spcAft>
                <a:spcPts val="500"/>
              </a:spcAft>
              <a:buNone/>
            </a:pPr>
            <a:r>
              <a:rPr lang="en-US" sz="1300" b="1" dirty="0">
                <a:solidFill>
                  <a:schemeClr val="tx1"/>
                </a:solidFill>
              </a:rPr>
              <a:t>가동 패턴</a:t>
            </a:r>
            <a:endParaRPr lang="en-US" sz="1300" dirty="0"/>
          </a:p>
          <a:p>
            <a:pPr indent="0" marL="0">
              <a:spcAft>
                <a:spcPts val="500"/>
              </a:spcAft>
              <a:buNone/>
            </a:pPr>
            <a:r>
              <a:rPr lang="en-US" sz="1300" dirty="0">
                <a:solidFill>
                  <a:schemeClr val="tx2"/>
                </a:solidFill>
              </a:rPr>
              <a:t>8시에 약 170 kW로 오르고 12시 점심에 약 95 kW로 내려갔다가 13시에 다시 오른다. 비가동 대기전력은 약 21 kW.</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257일 중 160일은 1~6월 안에서 서로 복사한 날이다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0단계 · 중복 데이터 확인</a:t>
            </a:r>
            <a:endParaRPr lang="en-US" sz="1200" dirty="0"/>
          </a:p>
        </p:txBody>
      </p:sp>
      <p:pic>
        <p:nvPicPr>
          <p:cNvPr id="5" name="월·일별 복사 그룹 크기 달력" descr="월·일별 복사 그룹 크기 달력">    </p:cNvPr>
          <p:cNvPicPr>
            <a:picLocks noChangeAspect="1"/>
          </p:cNvPicPr>
          <p:nvPr/>
        </p:nvPicPr>
        <p:blipFill>
          <a:blip r:embed="rId1"/>
          <a:stretch>
            <a:fillRect/>
          </a:stretch>
        </p:blipFill>
        <p:spPr>
          <a:xfrm>
            <a:off x="2055876" y="1463040"/>
            <a:ext cx="8077200" cy="2514600"/>
          </a:xfrm>
          <a:prstGeom prst="rect">
            <a:avLst/>
          </a:prstGeom>
        </p:spPr>
      </p:pic>
      <p:sp>
        <p:nvSpPr>
          <p:cNvPr id="6" name="근거 카드"/>
          <p:cNvSpPr/>
          <p:nvPr/>
        </p:nvSpPr>
        <p:spPr>
          <a:xfrm>
            <a:off x="548640" y="4160520"/>
            <a:ext cx="3566160" cy="2011680"/>
          </a:xfrm>
          <a:prstGeom prst="roundRect">
            <a:avLst>
              <a:gd name="adj" fmla="val 3636"/>
            </a:avLst>
          </a:prstGeom>
          <a:solidFill>
            <a:schemeClr val="bg2"/>
          </a:solidFill>
          <a:ln w="12700">
            <a:solidFill>
              <a:schemeClr val="bg2"/>
            </a:solidFill>
            <a:prstDash val="solid"/>
          </a:ln>
        </p:spPr>
      </p:sp>
      <p:sp>
        <p:nvSpPr>
          <p:cNvPr id="7" name="Text 3"/>
          <p:cNvSpPr txBox="1"/>
          <p:nvPr/>
        </p:nvSpPr>
        <p:spPr>
          <a:xfrm>
            <a:off x="749808" y="4325112"/>
            <a:ext cx="3163824" cy="502920"/>
          </a:xfrm>
          <a:prstGeom prst="rect">
            <a:avLst/>
          </a:prstGeom>
          <a:noFill/>
          <a:ln/>
        </p:spPr>
        <p:txBody>
          <a:bodyPr wrap="square" lIns="0" tIns="0" rIns="0" bIns="0" rtlCol="0" anchor="ctr"/>
          <a:lstStyle/>
          <a:p>
            <a:pPr indent="0" marL="0">
              <a:spcAft>
                <a:spcPts val="500"/>
              </a:spcAft>
              <a:buNone/>
            </a:pPr>
            <a:r>
              <a:rPr lang="en-US" sz="2200" b="1" dirty="0">
                <a:solidFill>
                  <a:schemeClr val="tx1"/>
                </a:solidFill>
              </a:rPr>
              <a:t>160일 / 45개 그룹</a:t>
            </a:r>
            <a:endParaRPr lang="en-US" sz="2200" dirty="0"/>
          </a:p>
        </p:txBody>
      </p:sp>
      <p:sp>
        <p:nvSpPr>
          <p:cNvPr id="8" name="Text 4"/>
          <p:cNvSpPr txBox="1"/>
          <p:nvPr/>
        </p:nvSpPr>
        <p:spPr>
          <a:xfrm>
            <a:off x="749808" y="4910328"/>
            <a:ext cx="3163824" cy="118872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하루 96개 전력값이 다른 날과 완전히 같은 날. 1월 → 2·3·6월, 4월 → 5월로 복사(요일이 달라도 복사)</a:t>
            </a:r>
            <a:endParaRPr lang="en-US" sz="1300" dirty="0"/>
          </a:p>
        </p:txBody>
      </p:sp>
      <p:sp>
        <p:nvSpPr>
          <p:cNvPr id="9" name="근거 카드"/>
          <p:cNvSpPr/>
          <p:nvPr/>
        </p:nvSpPr>
        <p:spPr>
          <a:xfrm>
            <a:off x="4311396" y="4160520"/>
            <a:ext cx="3566160" cy="2011680"/>
          </a:xfrm>
          <a:prstGeom prst="roundRect">
            <a:avLst>
              <a:gd name="adj" fmla="val 3636"/>
            </a:avLst>
          </a:prstGeom>
          <a:solidFill>
            <a:schemeClr val="bg2"/>
          </a:solidFill>
          <a:ln w="12700">
            <a:solidFill>
              <a:schemeClr val="bg2"/>
            </a:solidFill>
            <a:prstDash val="solid"/>
          </a:ln>
        </p:spPr>
      </p:sp>
      <p:sp>
        <p:nvSpPr>
          <p:cNvPr id="10" name="Text 6"/>
          <p:cNvSpPr txBox="1"/>
          <p:nvPr/>
        </p:nvSpPr>
        <p:spPr>
          <a:xfrm>
            <a:off x="4512564" y="4325112"/>
            <a:ext cx="3163824" cy="502920"/>
          </a:xfrm>
          <a:prstGeom prst="rect">
            <a:avLst/>
          </a:prstGeom>
          <a:noFill/>
          <a:ln/>
        </p:spPr>
        <p:txBody>
          <a:bodyPr wrap="square" lIns="0" tIns="0" rIns="0" bIns="0" rtlCol="0" anchor="ctr"/>
          <a:lstStyle/>
          <a:p>
            <a:pPr indent="0" marL="0">
              <a:spcAft>
                <a:spcPts val="500"/>
              </a:spcAft>
              <a:buNone/>
            </a:pPr>
            <a:r>
              <a:rPr lang="en-US" sz="2200" b="1" dirty="0">
                <a:solidFill>
                  <a:schemeClr val="tx1"/>
                </a:solidFill>
              </a:rPr>
              <a:t>0건</a:t>
            </a:r>
            <a:endParaRPr lang="en-US" sz="2200" dirty="0"/>
          </a:p>
        </p:txBody>
      </p:sp>
      <p:sp>
        <p:nvSpPr>
          <p:cNvPr id="11" name="Text 7"/>
          <p:cNvSpPr txBox="1"/>
          <p:nvPr/>
        </p:nvSpPr>
        <p:spPr>
          <a:xfrm>
            <a:off x="4512564" y="4910328"/>
            <a:ext cx="3163824" cy="118872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1~6월 181일 중 7~9월과 같은 날, 가동 시간 2,892개 중 7~9월과 같은 시간. 7~9월은 원본 구간</a:t>
            </a:r>
            <a:endParaRPr lang="en-US" sz="1300" dirty="0"/>
          </a:p>
        </p:txBody>
      </p:sp>
      <p:sp>
        <p:nvSpPr>
          <p:cNvPr id="12" name="근거 카드"/>
          <p:cNvSpPr/>
          <p:nvPr/>
        </p:nvSpPr>
        <p:spPr>
          <a:xfrm>
            <a:off x="8074152" y="4160520"/>
            <a:ext cx="3566160" cy="2011680"/>
          </a:xfrm>
          <a:prstGeom prst="roundRect">
            <a:avLst>
              <a:gd name="adj" fmla="val 3636"/>
            </a:avLst>
          </a:prstGeom>
          <a:solidFill>
            <a:schemeClr val="bg2"/>
          </a:solidFill>
          <a:ln w="12700">
            <a:solidFill>
              <a:schemeClr val="bg2"/>
            </a:solidFill>
            <a:prstDash val="solid"/>
          </a:ln>
        </p:spPr>
      </p:sp>
      <p:sp>
        <p:nvSpPr>
          <p:cNvPr id="13" name="Text 9"/>
          <p:cNvSpPr txBox="1"/>
          <p:nvPr/>
        </p:nvSpPr>
        <p:spPr>
          <a:xfrm>
            <a:off x="8275320" y="4325112"/>
            <a:ext cx="3163824" cy="502920"/>
          </a:xfrm>
          <a:prstGeom prst="rect">
            <a:avLst/>
          </a:prstGeom>
          <a:noFill/>
          <a:ln/>
        </p:spPr>
        <p:txBody>
          <a:bodyPr wrap="square" lIns="0" tIns="0" rIns="0" bIns="0" rtlCol="0" anchor="ctr"/>
          <a:lstStyle/>
          <a:p>
            <a:pPr indent="0" marL="0">
              <a:spcAft>
                <a:spcPts val="500"/>
              </a:spcAft>
              <a:buNone/>
            </a:pPr>
            <a:r>
              <a:rPr lang="en-US" sz="2200" b="1" dirty="0">
                <a:solidFill>
                  <a:schemeClr val="accent2"/>
                </a:solidFill>
              </a:rPr>
              <a:t>3가지 결정</a:t>
            </a:r>
            <a:endParaRPr lang="en-US" sz="2200" dirty="0"/>
          </a:p>
        </p:txBody>
      </p:sp>
      <p:sp>
        <p:nvSpPr>
          <p:cNvPr id="14" name="Text 10"/>
          <p:cNvSpPr txBox="1"/>
          <p:nvPr/>
        </p:nvSpPr>
        <p:spPr>
          <a:xfrm>
            <a:off x="8275320" y="4910328"/>
            <a:ext cx="3163824" cy="118872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평가는 7~9월 원본에서만 / 조건별 집계는 복사일을 한 번만 / 전날·전주 전력값은 입력에서 제외</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피크는 전체의 5%뿐이고, 검증은 시간 순서로만 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0단계 · 불균형, 누수 변수, 분할</a:t>
            </a:r>
            <a:endParaRPr lang="en-US" sz="1200" dirty="0"/>
          </a:p>
        </p:txBody>
      </p:sp>
      <p:pic>
        <p:nvPicPr>
          <p:cNvPr id="5" name="전력 분포와 부하 수준별 비율" descr="전력 분포와 부하 수준별 비율">    </p:cNvPr>
          <p:cNvPicPr>
            <a:picLocks noChangeAspect="1"/>
          </p:cNvPicPr>
          <p:nvPr/>
        </p:nvPicPr>
        <p:blipFill>
          <a:blip r:embed="rId1"/>
          <a:stretch>
            <a:fillRect/>
          </a:stretch>
        </p:blipFill>
        <p:spPr>
          <a:xfrm>
            <a:off x="548640" y="1649488"/>
            <a:ext cx="6035040" cy="1775945"/>
          </a:xfrm>
          <a:prstGeom prst="rect">
            <a:avLst/>
          </a:prstGeom>
        </p:spPr>
      </p:pic>
      <p:sp>
        <p:nvSpPr>
          <p:cNvPr id="6" name="누수 변수 카드"/>
          <p:cNvSpPr/>
          <p:nvPr/>
        </p:nvSpPr>
        <p:spPr>
          <a:xfrm>
            <a:off x="6812280" y="1463040"/>
            <a:ext cx="4828032" cy="2148840"/>
          </a:xfrm>
          <a:prstGeom prst="roundRect">
            <a:avLst>
              <a:gd name="adj" fmla="val 3404"/>
            </a:avLst>
          </a:prstGeom>
          <a:solidFill>
            <a:schemeClr val="bg2"/>
          </a:solidFill>
          <a:ln w="12700">
            <a:solidFill>
              <a:schemeClr val="bg2"/>
            </a:solidFill>
            <a:prstDash val="solid"/>
          </a:ln>
        </p:spPr>
      </p:sp>
      <p:sp>
        <p:nvSpPr>
          <p:cNvPr id="7" name="Text 3"/>
          <p:cNvSpPr txBox="1"/>
          <p:nvPr/>
        </p:nvSpPr>
        <p:spPr>
          <a:xfrm>
            <a:off x="7013448" y="1600200"/>
            <a:ext cx="4389120"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누수·중복 변수 제거</a:t>
            </a:r>
            <a:endParaRPr lang="en-US" sz="1500" dirty="0"/>
          </a:p>
        </p:txBody>
      </p:sp>
      <p:sp>
        <p:nvSpPr>
          <p:cNvPr id="8" name="Text 4"/>
          <p:cNvSpPr txBox="1"/>
          <p:nvPr/>
        </p:nvSpPr>
        <p:spPr>
          <a:xfrm>
            <a:off x="7013448" y="1938528"/>
            <a:ext cx="4434840" cy="1627632"/>
          </a:xfrm>
          <a:prstGeom prst="rect">
            <a:avLst/>
          </a:prstGeom>
          <a:noFill/>
          <a:ln/>
        </p:spPr>
        <p:txBody>
          <a:bodyPr wrap="square" lIns="0" tIns="0" rIns="0" bIns="0" rtlCol="0" anchor="t"/>
          <a:lstStyle/>
          <a:p>
            <a:pPr marL="342900" indent="-342900">
              <a:spcAft>
                <a:spcPts val="700"/>
              </a:spcAft>
              <a:buSzPct val="100000"/>
              <a:buChar char="•"/>
            </a:pPr>
            <a:r>
              <a:rPr lang="en-US" sz="1200" b="1" dirty="0">
                <a:solidFill>
                  <a:schemeClr val="tx1"/>
                </a:solidFill>
              </a:rPr>
              <a:t>공장인원: </a:t>
            </a:r>
            <a:pPr indent="0" marL="0">
              <a:spcAft>
                <a:spcPts val="700"/>
              </a:spcAft>
              <a:buNone/>
            </a:pPr>
            <a:r>
              <a:rPr lang="en-US" sz="1200" dirty="0">
                <a:solidFill>
                  <a:schemeClr val="tx2"/>
                </a:solidFill>
              </a:rPr>
              <a:t>생산량 ÷ 4구간 전력 합과 3,511행 모두 일치. 정답이 들어 있어 제외</a:t>
            </a:r>
            <a:endParaRPr lang="en-US" sz="1200" dirty="0"/>
          </a:p>
          <a:p>
            <a:pPr marL="342900" indent="-342900">
              <a:spcAft>
                <a:spcPts val="700"/>
              </a:spcAft>
              <a:buSzPct val="100000"/>
              <a:buChar char="•"/>
            </a:pPr>
            <a:r>
              <a:rPr lang="en-US" sz="1200" b="1" dirty="0">
                <a:solidFill>
                  <a:schemeClr val="tx1"/>
                </a:solidFill>
              </a:rPr>
              <a:t>평균: </a:t>
            </a:r>
            <a:pPr indent="0" marL="0">
              <a:spcAft>
                <a:spcPts val="700"/>
              </a:spcAft>
              <a:buNone/>
            </a:pPr>
            <a:r>
              <a:rPr lang="en-US" sz="1200" dirty="0">
                <a:solidFill>
                  <a:schemeClr val="tx2"/>
                </a:solidFill>
              </a:rPr>
              <a:t>목표값 4개의 평균</a:t>
            </a:r>
            <a:endParaRPr lang="en-US" sz="1200" dirty="0"/>
          </a:p>
          <a:p>
            <a:pPr marL="342900" indent="-342900">
              <a:spcAft>
                <a:spcPts val="700"/>
              </a:spcAft>
              <a:buSzPct val="100000"/>
              <a:buChar char="•"/>
            </a:pPr>
            <a:r>
              <a:rPr lang="en-US" sz="1200" b="1" dirty="0">
                <a:solidFill>
                  <a:schemeClr val="tx1"/>
                </a:solidFill>
              </a:rPr>
              <a:t>전기요금(계절)·인건비: </a:t>
            </a:r>
            <a:pPr indent="0" marL="0">
              <a:spcAft>
                <a:spcPts val="700"/>
              </a:spcAft>
              <a:buNone/>
            </a:pPr>
            <a:r>
              <a:rPr lang="en-US" sz="1200" dirty="0">
                <a:solidFill>
                  <a:schemeClr val="tx2"/>
                </a:solidFill>
              </a:rPr>
              <a:t>월·시각과 같은 정보</a:t>
            </a:r>
            <a:endParaRPr lang="en-US" sz="1200" dirty="0"/>
          </a:p>
          <a:p>
            <a:pPr marL="342900" indent="-342900">
              <a:spcAft>
                <a:spcPts val="700"/>
              </a:spcAft>
              <a:buSzPct val="100000"/>
              <a:buChar char="•"/>
            </a:pPr>
            <a:r>
              <a:rPr lang="en-US" sz="1200" b="1" dirty="0">
                <a:solidFill>
                  <a:schemeClr val="tx1"/>
                </a:solidFill>
              </a:rPr>
              <a:t>전날·전주 전력값: </a:t>
            </a:r>
            <a:pPr indent="0" marL="0">
              <a:spcAft>
                <a:spcPts val="700"/>
              </a:spcAft>
              <a:buNone/>
            </a:pPr>
            <a:r>
              <a:rPr lang="en-US" sz="1200" dirty="0">
                <a:solidFill>
                  <a:schemeClr val="tx2"/>
                </a:solidFill>
              </a:rPr>
              <a:t>복사일이 연속성을 끊어 MAE 8.19 → 12.93 kW</a:t>
            </a:r>
            <a:endParaRPr lang="en-US" sz="1200" dirty="0"/>
          </a:p>
        </p:txBody>
      </p:sp>
      <p:graphicFrame>
        <p:nvGraphicFramePr>
          <p:cNvPr id="9" name="표"/>
          <p:cNvGraphicFramePr>
            <a:graphicFrameLocks noGrp="1"/>
          </p:cNvGraphicFramePr>
          <p:nvPr>
            <p:extLst>
              <p:ext uri="{D42A27DB-BD31-4B8C-83A1-F6EECF244321}">
                <p14:modId xmlns:p14="http://schemas.microsoft.com/office/powerpoint/2010/main" val="1579011935"/>
              </p:ext>
            </p:extLst>
          </p:nvPr>
        </p:nvGraphicFramePr>
        <p:xfrm>
          <a:off x="548640" y="3840480"/>
          <a:ext cx="11091672" cy="914400"/>
        </p:xfrm>
        <a:graphic>
          <a:graphicData uri="http://schemas.openxmlformats.org/drawingml/2006/table">
            <a:tbl>
              <a:tblPr/>
              <a:tblGrid>
                <a:gridCol w="2560320"/>
                <a:gridCol w="2834640"/>
                <a:gridCol w="3291840"/>
                <a:gridCol w="2404872"/>
              </a:tblGrid>
              <a:tr h="384048">
                <a:tc>
                  <a:txBody>
                    <a:bodyPr/>
                    <a:lstStyle/>
                    <a:p>
                      <a:pPr algn="l" indent="0" marL="0">
                        <a:buNone/>
                      </a:pPr>
                      <a:r>
                        <a:rPr lang="en-US" sz="1300" b="1" dirty="0">
                          <a:solidFill>
                            <a:schemeClr val="bg1"/>
                          </a:solidFill>
                        </a:rPr>
                        <a:t>구분</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학습 구간</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평가 구간</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평가 구간 내 복사일</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2"/>
                          </a:solidFill>
                        </a:rPr>
                        <a:t>Valid 8개 구간(롤링)</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각 구간 시작일 이전 전체</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2021-07-05 ~ 09-05, 주 단위</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8개 구간 중 1개 구간에 2일</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Test(최종 1회)</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2021-01-01 ~ 08-31</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2021-09-01 ~ 09-14 (1,342 슬롯)</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0일</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bl>
          </a:graphicData>
        </a:graphic>
      </p:graphicFrame>
      <p:sp>
        <p:nvSpPr>
          <p:cNvPr id="10" name="누수 검증 카드"/>
          <p:cNvSpPr/>
          <p:nvPr/>
        </p:nvSpPr>
        <p:spPr>
          <a:xfrm>
            <a:off x="548640" y="5166360"/>
            <a:ext cx="11091672" cy="1051560"/>
          </a:xfrm>
          <a:prstGeom prst="roundRect">
            <a:avLst>
              <a:gd name="adj" fmla="val 6957"/>
            </a:avLst>
          </a:prstGeom>
          <a:solidFill>
            <a:schemeClr val="bg2"/>
          </a:solidFill>
          <a:ln w="12700">
            <a:solidFill>
              <a:schemeClr val="bg2"/>
            </a:solidFill>
            <a:prstDash val="solid"/>
          </a:ln>
        </p:spPr>
      </p:sp>
      <p:sp>
        <p:nvSpPr>
          <p:cNvPr id="11" name="Text 6"/>
          <p:cNvSpPr txBox="1"/>
          <p:nvPr/>
        </p:nvSpPr>
        <p:spPr>
          <a:xfrm>
            <a:off x="777240" y="5303520"/>
            <a:ext cx="10634472" cy="822960"/>
          </a:xfrm>
          <a:prstGeom prst="rect">
            <a:avLst/>
          </a:prstGeom>
          <a:noFill/>
          <a:ln/>
        </p:spPr>
        <p:txBody>
          <a:bodyPr wrap="square" lIns="0" tIns="0" rIns="0" bIns="0" rtlCol="0" anchor="ctr"/>
          <a:lstStyle/>
          <a:p>
            <a:pPr indent="0" marL="0">
              <a:spcAft>
                <a:spcPts val="500"/>
              </a:spcAft>
              <a:buNone/>
            </a:pPr>
            <a:r>
              <a:rPr lang="en-US" sz="1400" b="1" dirty="0">
                <a:solidFill>
                  <a:schemeClr val="accent2"/>
                </a:solidFill>
              </a:rPr>
              <a:t>무작위 분할을 쓰지 않는 근거  </a:t>
            </a:r>
            <a:pPr indent="0" marL="0">
              <a:spcAft>
                <a:spcPts val="500"/>
              </a:spcAft>
              <a:buNone/>
            </a:pPr>
            <a:r>
              <a:rPr lang="en-US" sz="1400" dirty="0">
                <a:solidFill>
                  <a:schemeClr val="tx2"/>
                </a:solidFill>
              </a:rPr>
              <a:t>가이드북의 무작위 70:30 분할에서는 시험 표본의 58.3%가 학습셋에 같은 패턴의 복사본을 갖고 있었다. MSE도 106.8로 시간 순 분할(113.1)보다 낙관적으로 나온다.</a:t>
            </a:r>
            <a:endParaRPr lang="en-US" sz="14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단계 번호"/>
          <p:cNvSpPr/>
          <p:nvPr/>
        </p:nvSpPr>
        <p:spPr>
          <a:xfrm>
            <a:off x="822960" y="2423160"/>
            <a:ext cx="1188720" cy="1188720"/>
          </a:xfrm>
          <a:prstGeom prst="ellipse">
            <a:avLst/>
          </a:prstGeom>
          <a:solidFill>
            <a:schemeClr val="accent1"/>
          </a:solidFill>
          <a:ln w="12700">
            <a:solidFill>
              <a:schemeClr val="accent1"/>
            </a:solidFill>
            <a:prstDash val="solid"/>
          </a:ln>
        </p:spPr>
      </p:sp>
      <p:sp>
        <p:nvSpPr>
          <p:cNvPr id="3" name="Text 1"/>
          <p:cNvSpPr txBox="1"/>
          <p:nvPr/>
        </p:nvSpPr>
        <p:spPr>
          <a:xfrm>
            <a:off x="822960" y="2423160"/>
            <a:ext cx="1188720" cy="1188720"/>
          </a:xfrm>
          <a:prstGeom prst="rect">
            <a:avLst/>
          </a:prstGeom>
          <a:noFill/>
          <a:ln/>
        </p:spPr>
        <p:txBody>
          <a:bodyPr wrap="square" lIns="0" tIns="0" rIns="0" bIns="0" rtlCol="0" anchor="ctr"/>
          <a:lstStyle/>
          <a:p>
            <a:pPr algn="ctr" indent="0" marL="0">
              <a:buNone/>
            </a:pPr>
            <a:r>
              <a:rPr lang="en-US" sz="4800" b="1" dirty="0">
                <a:solidFill>
                  <a:schemeClr val="tx1"/>
                </a:solidFill>
              </a:rPr>
              <a:t>1</a:t>
            </a:r>
            <a:endParaRPr lang="en-US" sz="4800" dirty="0"/>
          </a:p>
        </p:txBody>
      </p:sp>
      <p:sp>
        <p:nvSpPr>
          <p:cNvPr id="4" name="Text 0"/>
          <p:cNvSpPr/>
          <p:nvPr>
            <p:ph idx="100" type="title" hasCustomPrompt="1"/>
          </p:nvPr>
        </p:nvSpPr>
        <p:spPr>
          <a:xfrm>
            <a:off x="2377440" y="2468880"/>
            <a:ext cx="8961120" cy="1005840"/>
          </a:xfrm>
          <a:prstGeom prst="rect">
            <a:avLst/>
          </a:prstGeom>
          <a:noFill/>
          <a:ln/>
        </p:spPr>
        <p:txBody>
          <a:bodyPr wrap="square" lIns="0" tIns="0" rIns="0" bIns="0" rtlCol="0" anchor="t"/>
          <a:lstStyle/>
          <a:p>
            <a:pPr algn="l" indent="0" marL="0">
              <a:buNone/>
            </a:pPr>
            <a:r>
              <a:rPr lang="en-US" sz="3800" b="1" dirty="0">
                <a:solidFill>
                  <a:schemeClr val="bg1"/>
                </a:solidFill>
              </a:rPr>
              <a:t>전력 예측</a:t>
            </a:r>
            <a:endParaRPr lang="en-US" sz="3800" dirty="0"/>
          </a:p>
        </p:txBody>
      </p:sp>
      <p:sp>
        <p:nvSpPr>
          <p:cNvPr id="5" name="Text 0"/>
          <p:cNvSpPr/>
          <p:nvPr>
            <p:ph idx="101" type="body" hasCustomPrompt="1"/>
          </p:nvPr>
        </p:nvSpPr>
        <p:spPr>
          <a:xfrm>
            <a:off x="2377440" y="3611880"/>
            <a:ext cx="8961120" cy="1463040"/>
          </a:xfrm>
          <a:prstGeom prst="rect">
            <a:avLst/>
          </a:prstGeom>
          <a:noFill/>
          <a:ln/>
        </p:spPr>
        <p:txBody>
          <a:bodyPr wrap="square" lIns="0" tIns="0" rIns="0" bIns="0" rtlCol="0" anchor="t"/>
          <a:lstStyle/>
          <a:p>
            <a:pPr indent="0" marL="0">
              <a:buNone/>
            </a:pPr>
            <a:r>
              <a:rPr lang="en-US" sz="1700" dirty="0">
                <a:solidFill>
                  <a:schemeClr val="accent6"/>
                </a:solidFill>
              </a:rPr>
              <a:t>베이스라인 대 11개 모델 비교, 하이퍼파라미터 85가지 탐색, 앙상블 5종 비교, 피크 발생 확률 예측</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부스팅 3종이 베이스라인보다 MAE를 절반 넘게 줄였다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기본 설정 모델 비교</a:t>
            </a:r>
            <a:endParaRPr lang="en-US" sz="1200" dirty="0"/>
          </a:p>
        </p:txBody>
      </p:sp>
      <p:pic>
        <p:nvPicPr>
          <p:cNvPr id="5" name="기본 모델 비교 차트" descr="롤링 백테스트 8주(7~8월) MAE, 낮을수록 좋음">    </p:cNvPr>
          <p:cNvPicPr>
            <a:picLocks noChangeAspect="1"/>
          </p:cNvPicPr>
          <p:nvPr/>
        </p:nvPicPr>
        <p:blipFill>
          <a:blip r:embed="rId1"/>
          <a:stretch>
            <a:fillRect/>
          </a:stretch>
        </p:blipFill>
        <p:spPr>
          <a:xfrm>
            <a:off x="548640" y="1463040"/>
            <a:ext cx="6675120" cy="4800600"/>
          </a:xfrm>
          <a:prstGeom prst="rect">
            <a:avLst/>
          </a:prstGeom>
        </p:spPr>
      </p:pic>
      <p:sp>
        <p:nvSpPr>
          <p:cNvPr id="6" name="해석 카드"/>
          <p:cNvSpPr/>
          <p:nvPr/>
        </p:nvSpPr>
        <p:spPr>
          <a:xfrm>
            <a:off x="7452360" y="1463040"/>
            <a:ext cx="4187952" cy="4800600"/>
          </a:xfrm>
          <a:prstGeom prst="roundRect">
            <a:avLst>
              <a:gd name="adj" fmla="val 1747"/>
            </a:avLst>
          </a:prstGeom>
          <a:solidFill>
            <a:schemeClr val="bg2"/>
          </a:solidFill>
          <a:ln w="12700">
            <a:solidFill>
              <a:schemeClr val="bg2"/>
            </a:solidFill>
            <a:prstDash val="solid"/>
          </a:ln>
        </p:spPr>
      </p:sp>
      <p:sp>
        <p:nvSpPr>
          <p:cNvPr id="7" name="Text 3"/>
          <p:cNvSpPr txBox="1"/>
          <p:nvPr/>
        </p:nvSpPr>
        <p:spPr>
          <a:xfrm>
            <a:off x="7653528" y="1627632"/>
            <a:ext cx="3840480"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입력 39개(예측 시점에 아는 정보만)</a:t>
            </a:r>
            <a:endParaRPr lang="en-US" sz="1500" dirty="0"/>
          </a:p>
        </p:txBody>
      </p:sp>
      <p:sp>
        <p:nvSpPr>
          <p:cNvPr id="8" name="Text 4"/>
          <p:cNvSpPr txBox="1"/>
          <p:nvPr/>
        </p:nvSpPr>
        <p:spPr>
          <a:xfrm>
            <a:off x="7653528" y="2011680"/>
            <a:ext cx="3794760" cy="21488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생산계획 21개: </a:t>
            </a:r>
            <a:pPr indent="0" marL="0">
              <a:spcAft>
                <a:spcPts val="700"/>
              </a:spcAft>
              <a:buNone/>
            </a:pPr>
            <a:r>
              <a:rPr lang="en-US" sz="1300" dirty="0">
                <a:solidFill>
                  <a:schemeClr val="tx2"/>
                </a:solidFill>
              </a:rPr>
              <a:t>당시간·전후 시간 계획량, 첫·마지막 생산 시각, 일 계획량, 재가동일</a:t>
            </a:r>
            <a:endParaRPr lang="en-US" sz="1300" dirty="0"/>
          </a:p>
          <a:p>
            <a:pPr marL="342900" indent="-342900">
              <a:spcAft>
                <a:spcPts val="700"/>
              </a:spcAft>
              <a:buSzPct val="100000"/>
              <a:buChar char="•"/>
            </a:pPr>
            <a:r>
              <a:rPr lang="en-US" sz="1300" b="1" dirty="0">
                <a:solidFill>
                  <a:schemeClr val="tx1"/>
                </a:solidFill>
              </a:rPr>
              <a:t>달력 10개: </a:t>
            </a:r>
            <a:pPr indent="0" marL="0">
              <a:spcAft>
                <a:spcPts val="700"/>
              </a:spcAft>
              <a:buNone/>
            </a:pPr>
            <a:r>
              <a:rPr lang="en-US" sz="1300" dirty="0">
                <a:solidFill>
                  <a:schemeClr val="tx2"/>
                </a:solidFill>
              </a:rPr>
              <a:t>시각, 15분 구간, 요일, 공휴일, 월</a:t>
            </a:r>
            <a:endParaRPr lang="en-US" sz="1300" dirty="0"/>
          </a:p>
          <a:p>
            <a:pPr marL="342900" indent="-342900">
              <a:spcAft>
                <a:spcPts val="700"/>
              </a:spcAft>
              <a:buSzPct val="100000"/>
              <a:buChar char="•"/>
            </a:pPr>
            <a:r>
              <a:rPr lang="en-US" sz="1300" b="1" dirty="0">
                <a:solidFill>
                  <a:schemeClr val="tx1"/>
                </a:solidFill>
              </a:rPr>
              <a:t>기상 8개: </a:t>
            </a:r>
            <a:pPr indent="0" marL="0">
              <a:spcAft>
                <a:spcPts val="700"/>
              </a:spcAft>
              <a:buNone/>
            </a:pPr>
            <a:r>
              <a:rPr lang="en-US" sz="1300" dirty="0">
                <a:solidFill>
                  <a:schemeClr val="tx2"/>
                </a:solidFill>
              </a:rPr>
              <a:t>기온, 습도, 풍속, 강수, 냉방도·난방도</a:t>
            </a:r>
            <a:endParaRPr lang="en-US" sz="1300" dirty="0"/>
          </a:p>
        </p:txBody>
      </p:sp>
      <p:sp>
        <p:nvSpPr>
          <p:cNvPr id="9" name="Text 5"/>
          <p:cNvSpPr txBox="1"/>
          <p:nvPr/>
        </p:nvSpPr>
        <p:spPr>
          <a:xfrm>
            <a:off x="7653528" y="4206240"/>
            <a:ext cx="3840480"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읽을 점</a:t>
            </a:r>
            <a:endParaRPr lang="en-US" sz="1500" dirty="0"/>
          </a:p>
        </p:txBody>
      </p:sp>
      <p:sp>
        <p:nvSpPr>
          <p:cNvPr id="10" name="Text 6"/>
          <p:cNvSpPr txBox="1"/>
          <p:nvPr/>
        </p:nvSpPr>
        <p:spPr>
          <a:xfrm>
            <a:off x="7653528" y="4572000"/>
            <a:ext cx="3794760" cy="16002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2"/>
                </a:solidFill>
              </a:rPr>
              <a:t>부스팅 3종이 8.1~8.6 kW로 가장 좋다</a:t>
            </a:r>
            <a:endParaRPr lang="en-US" sz="1300" dirty="0"/>
          </a:p>
          <a:p>
            <a:pPr marL="342900" indent="-342900">
              <a:spcAft>
                <a:spcPts val="700"/>
              </a:spcAft>
              <a:buSzPct val="100000"/>
              <a:buChar char="•"/>
            </a:pPr>
            <a:r>
              <a:rPr lang="en-US" sz="1300" dirty="0">
                <a:solidFill>
                  <a:schemeClr val="tx2"/>
                </a:solidFill>
              </a:rPr>
              <a:t>일 최대 오차는 베이스라인2(8.6 kW)가 부스팅(13 kW)보다 작다. 회귀모델은 피크를 평탄하게 예측한다</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전날·전주 전력값을 넣으면 오히려 나빠진다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입력 구성 검증</a:t>
            </a:r>
            <a:endParaRPr lang="en-US" sz="1200" dirty="0"/>
          </a:p>
        </p:txBody>
      </p:sp>
      <p:pic>
        <p:nvPicPr>
          <p:cNvPr id="5" name="입력 구성 검증 차트" descr="LightGBM 입력 구성별 백테스트 MAE">    </p:cNvPr>
          <p:cNvPicPr>
            <a:picLocks noChangeAspect="1"/>
          </p:cNvPicPr>
          <p:nvPr/>
        </p:nvPicPr>
        <p:blipFill>
          <a:blip r:embed="rId1"/>
          <a:stretch>
            <a:fillRect/>
          </a:stretch>
        </p:blipFill>
        <p:spPr>
          <a:xfrm>
            <a:off x="548640" y="1463040"/>
            <a:ext cx="6675120" cy="3840480"/>
          </a:xfrm>
          <a:prstGeom prst="rect">
            <a:avLst/>
          </a:prstGeom>
        </p:spPr>
      </p:pic>
      <p:sp>
        <p:nvSpPr>
          <p:cNvPr id="6" name="해석 카드"/>
          <p:cNvSpPr/>
          <p:nvPr/>
        </p:nvSpPr>
        <p:spPr>
          <a:xfrm>
            <a:off x="7452360" y="1463040"/>
            <a:ext cx="4187952" cy="3840480"/>
          </a:xfrm>
          <a:prstGeom prst="roundRect">
            <a:avLst>
              <a:gd name="adj" fmla="val 1905"/>
            </a:avLst>
          </a:prstGeom>
          <a:solidFill>
            <a:schemeClr val="bg2"/>
          </a:solidFill>
          <a:ln w="12700">
            <a:solidFill>
              <a:schemeClr val="bg2"/>
            </a:solidFill>
            <a:prstDash val="solid"/>
          </a:ln>
        </p:spPr>
      </p:sp>
      <p:sp>
        <p:nvSpPr>
          <p:cNvPr id="7" name="Text 3"/>
          <p:cNvSpPr txBox="1"/>
          <p:nvPr/>
        </p:nvSpPr>
        <p:spPr>
          <a:xfrm>
            <a:off x="7653528" y="1627632"/>
            <a:ext cx="3840480"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해석</a:t>
            </a:r>
            <a:endParaRPr lang="en-US" sz="1500" dirty="0"/>
          </a:p>
        </p:txBody>
      </p:sp>
      <p:sp>
        <p:nvSpPr>
          <p:cNvPr id="8" name="Text 4"/>
          <p:cNvSpPr txBox="1"/>
          <p:nvPr/>
        </p:nvSpPr>
        <p:spPr>
          <a:xfrm>
            <a:off x="7653528" y="2011680"/>
            <a:ext cx="3794760" cy="320040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전력 지연값: </a:t>
            </a:r>
            <a:pPr indent="0" marL="0">
              <a:spcAft>
                <a:spcPts val="700"/>
              </a:spcAft>
              <a:buNone/>
            </a:pPr>
            <a:r>
              <a:rPr lang="en-US" sz="1300" dirty="0">
                <a:solidFill>
                  <a:schemeClr val="tx2"/>
                </a:solidFill>
              </a:rPr>
              <a:t>복사일에서는 전날과 당일이 이어지지 않아 잡음이 된다</a:t>
            </a:r>
            <a:endParaRPr lang="en-US" sz="1300" dirty="0"/>
          </a:p>
          <a:p>
            <a:pPr marL="342900" indent="-342900">
              <a:spcAft>
                <a:spcPts val="700"/>
              </a:spcAft>
              <a:buSzPct val="100000"/>
              <a:buChar char="•"/>
            </a:pPr>
            <a:r>
              <a:rPr lang="en-US" sz="1300" b="1" dirty="0">
                <a:solidFill>
                  <a:schemeClr val="tx1"/>
                </a:solidFill>
              </a:rPr>
              <a:t>1시간 전 예측: </a:t>
            </a:r>
            <a:pPr indent="0" marL="0">
              <a:spcAft>
                <a:spcPts val="700"/>
              </a:spcAft>
              <a:buNone/>
            </a:pPr>
            <a:r>
              <a:rPr lang="en-US" sz="1300" dirty="0">
                <a:solidFill>
                  <a:schemeClr val="tx2"/>
                </a:solidFill>
              </a:rPr>
              <a:t>최신 전력값이 있어도 8.44 kW로 더 나쁘다</a:t>
            </a:r>
            <a:endParaRPr lang="en-US" sz="1300" dirty="0"/>
          </a:p>
          <a:p>
            <a:pPr marL="342900" indent="-342900">
              <a:spcAft>
                <a:spcPts val="700"/>
              </a:spcAft>
              <a:buSzPct val="100000"/>
              <a:buChar char="•"/>
            </a:pPr>
            <a:r>
              <a:rPr lang="en-US" sz="1300" b="1" dirty="0">
                <a:solidFill>
                  <a:schemeClr val="tx1"/>
                </a:solidFill>
              </a:rPr>
              <a:t>기상: </a:t>
            </a:r>
            <a:pPr indent="0" marL="0">
              <a:spcAft>
                <a:spcPts val="700"/>
              </a:spcAft>
              <a:buNone/>
            </a:pPr>
            <a:r>
              <a:rPr lang="en-US" sz="1300" dirty="0">
                <a:solidFill>
                  <a:schemeClr val="tx2"/>
                </a:solidFill>
              </a:rPr>
              <a:t>기여는 약 1.3 kW. 예보 오차가 있어도 영향은 이 범위 안</a:t>
            </a:r>
            <a:endParaRPr lang="en-US" sz="1300" dirty="0"/>
          </a:p>
        </p:txBody>
      </p:sp>
      <p:sp>
        <p:nvSpPr>
          <p:cNvPr id="9" name="결론 카드"/>
          <p:cNvSpPr/>
          <p:nvPr/>
        </p:nvSpPr>
        <p:spPr>
          <a:xfrm>
            <a:off x="548640" y="5486400"/>
            <a:ext cx="11091672" cy="777240"/>
          </a:xfrm>
          <a:prstGeom prst="roundRect">
            <a:avLst>
              <a:gd name="adj" fmla="val 9412"/>
            </a:avLst>
          </a:prstGeom>
          <a:solidFill>
            <a:schemeClr val="bg2"/>
          </a:solidFill>
          <a:ln w="12700">
            <a:solidFill>
              <a:schemeClr val="bg2"/>
            </a:solidFill>
            <a:prstDash val="solid"/>
          </a:ln>
        </p:spPr>
      </p:sp>
      <p:sp>
        <p:nvSpPr>
          <p:cNvPr id="10" name="Text 6"/>
          <p:cNvSpPr txBox="1"/>
          <p:nvPr/>
        </p:nvSpPr>
        <p:spPr>
          <a:xfrm>
            <a:off x="777240" y="5559552"/>
            <a:ext cx="10634472" cy="640080"/>
          </a:xfrm>
          <a:prstGeom prst="rect">
            <a:avLst/>
          </a:prstGeom>
          <a:noFill/>
          <a:ln/>
        </p:spPr>
        <p:txBody>
          <a:bodyPr wrap="square" lIns="0" tIns="0" rIns="0" bIns="0" rtlCol="0" anchor="ctr"/>
          <a:lstStyle/>
          <a:p>
            <a:pPr indent="0" marL="0">
              <a:spcAft>
                <a:spcPts val="500"/>
              </a:spcAft>
              <a:buNone/>
            </a:pPr>
            <a:r>
              <a:rPr lang="en-US" sz="1500" b="1" dirty="0">
                <a:solidFill>
                  <a:schemeClr val="accent2"/>
                </a:solidFill>
              </a:rPr>
              <a:t>결론  </a:t>
            </a:r>
            <a:pPr indent="0" marL="0">
              <a:spcAft>
                <a:spcPts val="500"/>
              </a:spcAft>
              <a:buNone/>
            </a:pPr>
            <a:r>
              <a:rPr lang="en-US" sz="1500" dirty="0">
                <a:solidFill>
                  <a:schemeClr val="tx2"/>
                </a:solidFill>
              </a:rPr>
              <a:t>이 데이터에서 전력은 과거 전력이 아니라 그날의 생산계획으로 설명된다. 입력은 생산계획 + 달력 + 기상으로 확정했다.</a:t>
            </a:r>
            <a:endParaRPr lang="en-US" sz="15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설정 85가지를 탐색했고, 탐색 이득은 모델마다 크게 달랐다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하이퍼파라미터 탐색</a:t>
            </a:r>
            <a:endParaRPr lang="en-US" sz="1200" dirty="0"/>
          </a:p>
        </p:txBody>
      </p:sp>
      <p:graphicFrame>
        <p:nvGraphicFramePr>
          <p:cNvPr id="13" name="표"/>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2103120"/>
                <a:gridCol w="1737360"/>
                <a:gridCol w="1188720"/>
                <a:gridCol w="1280160"/>
              </a:tblGrid>
              <a:tr h="384048">
                <a:tc>
                  <a:txBody>
                    <a:bodyPr/>
                    <a:lstStyle/>
                    <a:p>
                      <a:pPr algn="l" indent="0" marL="0">
                        <a:buNone/>
                      </a:pPr>
                      <a:r>
                        <a:rPr lang="en-US" sz="1300" b="1" dirty="0">
                          <a:solidFill>
                            <a:schemeClr val="bg1"/>
                          </a:solidFill>
                        </a:rPr>
                        <a:t>모델</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탐색 방법</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시작 설정 MAE</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탐색 최적 MAE</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2"/>
                          </a:solidFill>
                        </a:rPr>
                        <a:t>LightGBM</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Optuna 30회</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8.19</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8.17</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XGBoost</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Optuna 30회</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8.06</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7.75</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2"/>
                          </a:solidFill>
                        </a:rPr>
                        <a:t>CatBoost</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Optuna 15회</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8.78</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8.20</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ExtraTrees</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격자 2가지</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7.36</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7.36</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2"/>
                          </a:solidFill>
                        </a:rPr>
                        <a:t>HistGradientBoosting</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격자 2가지</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8.09</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8.09</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RandomForest</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격자 3가지</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9.42</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8.58</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2"/>
                          </a:solidFill>
                        </a:rPr>
                        <a:t>MLP</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격자 3가지(층 구성)</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15.75</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12.64</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6" name="탐색 방법 카드"/>
          <p:cNvSpPr/>
          <p:nvPr/>
        </p:nvSpPr>
        <p:spPr>
          <a:xfrm>
            <a:off x="7086600" y="1508760"/>
            <a:ext cx="4553712" cy="3127248"/>
          </a:xfrm>
          <a:prstGeom prst="roundRect">
            <a:avLst>
              <a:gd name="adj" fmla="val 2339"/>
            </a:avLst>
          </a:prstGeom>
          <a:solidFill>
            <a:schemeClr val="bg2"/>
          </a:solidFill>
          <a:ln w="12700">
            <a:solidFill>
              <a:schemeClr val="bg2"/>
            </a:solidFill>
            <a:prstDash val="solid"/>
          </a:ln>
        </p:spPr>
      </p:sp>
      <p:sp>
        <p:nvSpPr>
          <p:cNvPr id="7" name="Text 3"/>
          <p:cNvSpPr txBox="1"/>
          <p:nvPr/>
        </p:nvSpPr>
        <p:spPr>
          <a:xfrm>
            <a:off x="7287768" y="1664208"/>
            <a:ext cx="4114800"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탐색 설계</a:t>
            </a:r>
            <a:endParaRPr lang="en-US" sz="1500" dirty="0"/>
          </a:p>
        </p:txBody>
      </p:sp>
      <p:sp>
        <p:nvSpPr>
          <p:cNvPr id="8" name="Text 4"/>
          <p:cNvSpPr txBox="1"/>
          <p:nvPr/>
        </p:nvSpPr>
        <p:spPr>
          <a:xfrm>
            <a:off x="7287768" y="2039112"/>
            <a:ext cx="4160520" cy="251460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목적함수: </a:t>
            </a:r>
            <a:pPr indent="0" marL="0">
              <a:spcAft>
                <a:spcPts val="700"/>
              </a:spcAft>
              <a:buNone/>
            </a:pPr>
            <a:r>
              <a:rPr lang="en-US" sz="1300" dirty="0">
                <a:solidFill>
                  <a:schemeClr val="tx2"/>
                </a:solidFill>
              </a:rPr>
              <a:t>Valid 8개 구간의 표본 외 MAE. 시험 구간은 탐색에 쓰지 않음</a:t>
            </a:r>
            <a:endParaRPr lang="en-US" sz="1300" dirty="0"/>
          </a:p>
          <a:p>
            <a:pPr marL="342900" indent="-342900">
              <a:spcAft>
                <a:spcPts val="700"/>
              </a:spcAft>
              <a:buSzPct val="100000"/>
              <a:buChar char="•"/>
            </a:pPr>
            <a:r>
              <a:rPr lang="en-US" sz="1300" b="1" dirty="0">
                <a:solidFill>
                  <a:schemeClr val="tx1"/>
                </a:solidFill>
              </a:rPr>
              <a:t>탐색 범위: </a:t>
            </a:r>
            <a:pPr indent="0" marL="0">
              <a:spcAft>
                <a:spcPts val="700"/>
              </a:spcAft>
              <a:buNone/>
            </a:pPr>
            <a:r>
              <a:rPr lang="en-US" sz="1300" dirty="0">
                <a:solidFill>
                  <a:schemeClr val="tx2"/>
                </a:solidFill>
              </a:rPr>
              <a:t>나무 수, 학습률, 깊이·잎 수, 최소 표본, 표본 비율, 규제, 손실함수</a:t>
            </a:r>
            <a:endParaRPr lang="en-US" sz="1300" dirty="0"/>
          </a:p>
          <a:p>
            <a:pPr marL="342900" indent="-342900">
              <a:spcAft>
                <a:spcPts val="700"/>
              </a:spcAft>
              <a:buSzPct val="100000"/>
              <a:buChar char="•"/>
            </a:pPr>
            <a:r>
              <a:rPr lang="en-US" sz="1300" b="1" dirty="0">
                <a:solidFill>
                  <a:schemeClr val="tx1"/>
                </a:solidFill>
              </a:rPr>
              <a:t>안전장치: </a:t>
            </a:r>
            <a:pPr indent="0" marL="0">
              <a:spcAft>
                <a:spcPts val="700"/>
              </a:spcAft>
              <a:buNone/>
            </a:pPr>
            <a:r>
              <a:rPr lang="en-US" sz="1300" dirty="0">
                <a:solidFill>
                  <a:schemeClr val="tx2"/>
                </a:solidFill>
              </a:rPr>
              <a:t>기본 설정을 첫 시도로 넣어 탐색 결과가 기본보다 나빠지지 않게 함</a:t>
            </a:r>
            <a:endParaRPr lang="en-US" sz="1300" dirty="0"/>
          </a:p>
        </p:txBody>
      </p:sp>
      <p:sp>
        <p:nvSpPr>
          <p:cNvPr id="9" name="주의 카드"/>
          <p:cNvSpPr/>
          <p:nvPr/>
        </p:nvSpPr>
        <p:spPr>
          <a:xfrm>
            <a:off x="548640" y="5120640"/>
            <a:ext cx="11091672" cy="1143000"/>
          </a:xfrm>
          <a:prstGeom prst="roundRect">
            <a:avLst>
              <a:gd name="adj" fmla="val 6400"/>
            </a:avLst>
          </a:prstGeom>
          <a:solidFill>
            <a:schemeClr val="bg2"/>
          </a:solidFill>
          <a:ln w="12700">
            <a:solidFill>
              <a:schemeClr val="bg2"/>
            </a:solidFill>
            <a:prstDash val="solid"/>
          </a:ln>
        </p:spPr>
      </p:sp>
      <p:sp>
        <p:nvSpPr>
          <p:cNvPr id="10" name="Text 6"/>
          <p:cNvSpPr txBox="1"/>
          <p:nvPr/>
        </p:nvSpPr>
        <p:spPr>
          <a:xfrm>
            <a:off x="777240" y="5193792"/>
            <a:ext cx="10634472" cy="1005840"/>
          </a:xfrm>
          <a:prstGeom prst="rect">
            <a:avLst/>
          </a:prstGeom>
          <a:noFill/>
          <a:ln/>
        </p:spPr>
        <p:txBody>
          <a:bodyPr wrap="square" lIns="0" tIns="0" rIns="0" bIns="0" rtlCol="0" anchor="ctr"/>
          <a:lstStyle/>
          <a:p>
            <a:pPr indent="0" marL="0">
              <a:spcAft>
                <a:spcPts val="500"/>
              </a:spcAft>
              <a:buNone/>
            </a:pPr>
            <a:r>
              <a:rPr lang="en-US" sz="1400" b="1" dirty="0">
                <a:solidFill>
                  <a:schemeClr val="accent2"/>
                </a:solidFill>
              </a:rPr>
              <a:t>읽을 점  </a:t>
            </a:r>
            <a:pPr indent="0" marL="0">
              <a:spcAft>
                <a:spcPts val="500"/>
              </a:spcAft>
              <a:buNone/>
            </a:pPr>
            <a:r>
              <a:rPr lang="en-US" sz="1400" dirty="0">
                <a:solidFill>
                  <a:schemeClr val="tx2"/>
                </a:solidFill>
              </a:rPr>
              <a:t>LightGBM·ExtraTrees·HistGradientBoosting은 탐색해도 0.02 kW 이내로 그대로였다. XGBoost는 0.31, CatBoost는 0.58, MLP는 3.11 kW 좋아졌다. 탐색 뒤 가장 낮은 것은 ExtraTrees(7.36 kW)이며, 다음 장에서 앙상블과 함께 비교해 최종 모델을 정한다.</a:t>
            </a:r>
            <a:endParaRPr lang="en-US" sz="14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검증 오차가 가장 낮은 ExtraTrees를 최종 모델로 선정했다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앙상블 비교와 최종 모델 선정</a:t>
            </a:r>
            <a:endParaRPr lang="en-US" sz="1200" dirty="0"/>
          </a:p>
        </p:txBody>
      </p:sp>
      <p:pic>
        <p:nvPicPr>
          <p:cNvPr id="5" name="앙상블 비교 차트" descr="탐색 모델과 앙상블의 MAE(kW)">    </p:cNvPr>
          <p:cNvPicPr>
            <a:picLocks noChangeAspect="1"/>
          </p:cNvPicPr>
          <p:nvPr/>
        </p:nvPicPr>
        <p:blipFill>
          <a:blip r:embed="rId1"/>
          <a:stretch>
            <a:fillRect/>
          </a:stretch>
        </p:blipFill>
        <p:spPr>
          <a:xfrm>
            <a:off x="548640" y="1463040"/>
            <a:ext cx="6949440" cy="4800600"/>
          </a:xfrm>
          <a:prstGeom prst="rect">
            <a:avLst/>
          </a:prstGeom>
        </p:spPr>
      </p:pic>
      <p:sp>
        <p:nvSpPr>
          <p:cNvPr id="6" name="선정 근거 카드"/>
          <p:cNvSpPr/>
          <p:nvPr/>
        </p:nvSpPr>
        <p:spPr>
          <a:xfrm>
            <a:off x="7726680" y="1463040"/>
            <a:ext cx="3913632" cy="4800600"/>
          </a:xfrm>
          <a:prstGeom prst="roundRect">
            <a:avLst>
              <a:gd name="adj" fmla="val 1869"/>
            </a:avLst>
          </a:prstGeom>
          <a:solidFill>
            <a:schemeClr val="bg2"/>
          </a:solidFill>
          <a:ln w="12700">
            <a:solidFill>
              <a:schemeClr val="bg2"/>
            </a:solidFill>
            <a:prstDash val="solid"/>
          </a:ln>
        </p:spPr>
      </p:sp>
      <p:sp>
        <p:nvSpPr>
          <p:cNvPr id="7" name="Text 3"/>
          <p:cNvSpPr txBox="1"/>
          <p:nvPr/>
        </p:nvSpPr>
        <p:spPr>
          <a:xfrm>
            <a:off x="7927848" y="1627632"/>
            <a:ext cx="3566160" cy="365760"/>
          </a:xfrm>
          <a:prstGeom prst="rect">
            <a:avLst/>
          </a:prstGeom>
          <a:noFill/>
          <a:ln/>
        </p:spPr>
        <p:txBody>
          <a:bodyPr wrap="square" lIns="0" tIns="0" rIns="0" bIns="0" rtlCol="0" anchor="t"/>
          <a:lstStyle/>
          <a:p>
            <a:pPr indent="0" marL="0">
              <a:spcAft>
                <a:spcPts val="500"/>
              </a:spcAft>
              <a:buNone/>
            </a:pPr>
            <a:r>
              <a:rPr lang="en-US" sz="1500" b="1" dirty="0">
                <a:solidFill>
                  <a:schemeClr val="accent2"/>
                </a:solidFill>
              </a:rPr>
              <a:t>최종 모델: ExtraTrees(탐색)</a:t>
            </a:r>
            <a:endParaRPr lang="en-US" sz="1500" dirty="0"/>
          </a:p>
        </p:txBody>
      </p:sp>
      <p:sp>
        <p:nvSpPr>
          <p:cNvPr id="8" name="Text 4"/>
          <p:cNvSpPr txBox="1"/>
          <p:nvPr/>
        </p:nvSpPr>
        <p:spPr>
          <a:xfrm>
            <a:off x="7927848" y="2103120"/>
            <a:ext cx="3547872" cy="4114800"/>
          </a:xfrm>
          <a:prstGeom prst="rect">
            <a:avLst/>
          </a:prstGeom>
          <a:noFill/>
          <a:ln/>
        </p:spPr>
        <p:txBody>
          <a:bodyPr wrap="square" lIns="0" tIns="0" rIns="0" bIns="0" rtlCol="0" anchor="t"/>
          <a:lstStyle/>
          <a:p>
            <a:pPr marL="342900" indent="-342900">
              <a:spcAft>
                <a:spcPts val="700"/>
              </a:spcAft>
              <a:buSzPct val="100000"/>
              <a:buChar char="•"/>
            </a:pPr>
            <a:r>
              <a:rPr lang="en-US" sz="1200" b="1" dirty="0">
                <a:solidFill>
                  <a:schemeClr val="tx1"/>
                </a:solidFill>
              </a:rPr>
              <a:t>선정 규칙: </a:t>
            </a:r>
            <a:pPr indent="0" marL="0">
              <a:spcAft>
                <a:spcPts val="700"/>
              </a:spcAft>
              <a:buNone/>
            </a:pPr>
            <a:r>
              <a:rPr lang="en-US" sz="1200" dirty="0">
                <a:solidFill>
                  <a:schemeClr val="tx2"/>
                </a:solidFill>
              </a:rPr>
              <a:t>백테스트 MAE가 가장 낮은 후보. 시험 성적은 선정에 쓰지 않는다</a:t>
            </a:r>
            <a:endParaRPr lang="en-US" sz="1200" dirty="0"/>
          </a:p>
          <a:p>
            <a:pPr marL="342900" indent="-342900">
              <a:spcAft>
                <a:spcPts val="700"/>
              </a:spcAft>
              <a:buSzPct val="100000"/>
              <a:buChar char="•"/>
            </a:pPr>
            <a:r>
              <a:rPr lang="en-US" sz="1200" b="1" dirty="0">
                <a:solidFill>
                  <a:schemeClr val="tx1"/>
                </a:solidFill>
              </a:rPr>
              <a:t>검증 최저: </a:t>
            </a:r>
            <a:pPr indent="0" marL="0">
              <a:spcAft>
                <a:spcPts val="700"/>
              </a:spcAft>
              <a:buNone/>
            </a:pPr>
            <a:r>
              <a:rPr lang="en-US" sz="1200" dirty="0">
                <a:solidFill>
                  <a:schemeClr val="tx2"/>
                </a:solidFill>
              </a:rPr>
              <a:t>MAE 7.36 kW로 15개 후보 중 가장 낮다</a:t>
            </a:r>
            <a:endParaRPr lang="en-US" sz="1200" dirty="0"/>
          </a:p>
          <a:p>
            <a:pPr marL="342900" indent="-342900">
              <a:spcAft>
                <a:spcPts val="700"/>
              </a:spcAft>
              <a:buSzPct val="100000"/>
              <a:buChar char="•"/>
            </a:pPr>
            <a:r>
              <a:rPr lang="en-US" sz="1200" b="1" dirty="0">
                <a:solidFill>
                  <a:schemeClr val="tx1"/>
                </a:solidFill>
              </a:rPr>
              <a:t>일관성: </a:t>
            </a:r>
            <a:pPr indent="0" marL="0">
              <a:spcAft>
                <a:spcPts val="700"/>
              </a:spcAft>
              <a:buNone/>
            </a:pPr>
            <a:r>
              <a:rPr lang="en-US" sz="1200" dirty="0">
                <a:solidFill>
                  <a:schemeClr val="tx2"/>
                </a:solidFill>
              </a:rPr>
              <a:t>8개 구간 중 6개에서 LightGBM보다 좋고, 구간별 표준편차 1.06 kW</a:t>
            </a:r>
            <a:endParaRPr lang="en-US" sz="1200" dirty="0"/>
          </a:p>
          <a:p>
            <a:pPr marL="342900" indent="-342900">
              <a:spcAft>
                <a:spcPts val="700"/>
              </a:spcAft>
              <a:buSzPct val="100000"/>
              <a:buChar char="•"/>
            </a:pPr>
            <a:r>
              <a:rPr lang="en-US" sz="1200" b="1" dirty="0">
                <a:solidFill>
                  <a:schemeClr val="tx1"/>
                </a:solidFill>
              </a:rPr>
              <a:t>앙상블: </a:t>
            </a:r>
            <a:pPr indent="0" marL="0">
              <a:spcAft>
                <a:spcPts val="700"/>
              </a:spcAft>
              <a:buNone/>
            </a:pPr>
            <a:r>
              <a:rPr lang="en-US" sz="1200" dirty="0">
                <a:solidFill>
                  <a:schemeClr val="tx2"/>
                </a:solidFill>
              </a:rPr>
              <a:t>5종 모두 ExtraTrees를 넘지 못했다. 비음수 가중 평균은 가중치의 75%를 ExtraTrees에 줬다</a:t>
            </a:r>
            <a:endParaRPr lang="en-US" sz="1200" dirty="0"/>
          </a:p>
          <a:p>
            <a:pPr marL="342900" indent="-342900">
              <a:spcAft>
                <a:spcPts val="700"/>
              </a:spcAft>
              <a:buSzPct val="100000"/>
              <a:buChar char="•"/>
            </a:pPr>
            <a:r>
              <a:rPr lang="en-US" sz="1200" b="1" dirty="0">
                <a:solidFill>
                  <a:schemeClr val="tx1"/>
                </a:solidFill>
              </a:rPr>
              <a:t>시험: </a:t>
            </a:r>
            <a:pPr indent="0" marL="0">
              <a:spcAft>
                <a:spcPts val="700"/>
              </a:spcAft>
              <a:buNone/>
            </a:pPr>
            <a:r>
              <a:rPr lang="en-US" sz="1200" dirty="0">
                <a:solidFill>
                  <a:schemeClr val="tx2"/>
                </a:solidFill>
              </a:rPr>
              <a:t>6.47 kW. 스태킹 6.32, 가중 평균 6.40이 조금 낮지만 사후 선택은 하지 않았다</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시험 구간 MAE 6.47 kW로 베이스라인보다 44% 낮다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시험 구간 결과</a:t>
            </a:r>
            <a:endParaRPr lang="en-US" sz="1200" dirty="0"/>
          </a:p>
        </p:txBody>
      </p:sp>
      <p:pic>
        <p:nvPicPr>
          <p:cNvPr id="5" name="시험 구간 실측 대 예측, 80% 예측구간, 피크 경보" descr="시험 구간 실측 대 예측, 80% 예측구간, 피크 경보">    </p:cNvPr>
          <p:cNvPicPr>
            <a:picLocks noChangeAspect="1"/>
          </p:cNvPicPr>
          <p:nvPr/>
        </p:nvPicPr>
        <p:blipFill>
          <a:blip r:embed="rId1"/>
          <a:stretch>
            <a:fillRect/>
          </a:stretch>
        </p:blipFill>
        <p:spPr>
          <a:xfrm>
            <a:off x="548640" y="1900883"/>
            <a:ext cx="7818120" cy="3879193"/>
          </a:xfrm>
          <a:prstGeom prst="rect">
            <a:avLst/>
          </a:prstGeom>
        </p:spPr>
      </p:pic>
      <p:sp>
        <p:nvSpPr>
          <p:cNvPr id="6" name="수치 카드"/>
          <p:cNvSpPr/>
          <p:nvPr/>
        </p:nvSpPr>
        <p:spPr>
          <a:xfrm>
            <a:off x="8595360" y="1463040"/>
            <a:ext cx="3044952" cy="1325880"/>
          </a:xfrm>
          <a:prstGeom prst="roundRect">
            <a:avLst>
              <a:gd name="adj" fmla="val 5517"/>
            </a:avLst>
          </a:prstGeom>
          <a:solidFill>
            <a:schemeClr val="bg2"/>
          </a:solidFill>
          <a:ln w="12700">
            <a:solidFill>
              <a:schemeClr val="bg2"/>
            </a:solidFill>
            <a:prstDash val="solid"/>
          </a:ln>
        </p:spPr>
      </p:sp>
      <p:sp>
        <p:nvSpPr>
          <p:cNvPr id="7" name="Text 3"/>
          <p:cNvSpPr txBox="1"/>
          <p:nvPr/>
        </p:nvSpPr>
        <p:spPr>
          <a:xfrm>
            <a:off x="8778240" y="1591056"/>
            <a:ext cx="2679192" cy="685800"/>
          </a:xfrm>
          <a:prstGeom prst="rect">
            <a:avLst/>
          </a:prstGeom>
          <a:noFill/>
          <a:ln/>
        </p:spPr>
        <p:txBody>
          <a:bodyPr wrap="square" lIns="0" tIns="0" rIns="0" bIns="0" rtlCol="0" anchor="ctr"/>
          <a:lstStyle/>
          <a:p>
            <a:pPr indent="0" marL="0">
              <a:spcAft>
                <a:spcPts val="500"/>
              </a:spcAft>
              <a:buNone/>
            </a:pPr>
            <a:r>
              <a:rPr lang="en-US" sz="3200" b="1" dirty="0">
                <a:solidFill>
                  <a:schemeClr val="accent3"/>
                </a:solidFill>
              </a:rPr>
              <a:t>6.47 kW</a:t>
            </a:r>
            <a:endParaRPr lang="en-US" sz="3200" dirty="0"/>
          </a:p>
        </p:txBody>
      </p:sp>
      <p:sp>
        <p:nvSpPr>
          <p:cNvPr id="8" name="Text 4"/>
          <p:cNvSpPr txBox="1"/>
          <p:nvPr/>
        </p:nvSpPr>
        <p:spPr>
          <a:xfrm>
            <a:off x="8778240" y="2286000"/>
            <a:ext cx="2679192"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MAE (베이스라인1 11.52 kW)</a:t>
            </a:r>
            <a:endParaRPr lang="en-US" sz="1200" dirty="0"/>
          </a:p>
        </p:txBody>
      </p:sp>
      <p:sp>
        <p:nvSpPr>
          <p:cNvPr id="9" name="수치 카드"/>
          <p:cNvSpPr/>
          <p:nvPr/>
        </p:nvSpPr>
        <p:spPr>
          <a:xfrm>
            <a:off x="8595360" y="2926080"/>
            <a:ext cx="3044952" cy="1325880"/>
          </a:xfrm>
          <a:prstGeom prst="roundRect">
            <a:avLst>
              <a:gd name="adj" fmla="val 5517"/>
            </a:avLst>
          </a:prstGeom>
          <a:solidFill>
            <a:schemeClr val="bg2"/>
          </a:solidFill>
          <a:ln w="12700">
            <a:solidFill>
              <a:schemeClr val="bg2"/>
            </a:solidFill>
            <a:prstDash val="solid"/>
          </a:ln>
        </p:spPr>
      </p:sp>
      <p:sp>
        <p:nvSpPr>
          <p:cNvPr id="10" name="Text 6"/>
          <p:cNvSpPr txBox="1"/>
          <p:nvPr/>
        </p:nvSpPr>
        <p:spPr>
          <a:xfrm>
            <a:off x="8778240" y="3054096"/>
            <a:ext cx="2679192" cy="685800"/>
          </a:xfrm>
          <a:prstGeom prst="rect">
            <a:avLst/>
          </a:prstGeom>
          <a:noFill/>
          <a:ln/>
        </p:spPr>
        <p:txBody>
          <a:bodyPr wrap="square" lIns="0" tIns="0" rIns="0" bIns="0" rtlCol="0" anchor="ctr"/>
          <a:lstStyle/>
          <a:p>
            <a:pPr indent="0" marL="0">
              <a:spcAft>
                <a:spcPts val="500"/>
              </a:spcAft>
              <a:buNone/>
            </a:pPr>
            <a:r>
              <a:rPr lang="en-US" sz="3200" b="1" dirty="0">
                <a:solidFill>
                  <a:schemeClr val="tx1"/>
                </a:solidFill>
              </a:rPr>
              <a:t>8.91 kW</a:t>
            </a:r>
            <a:endParaRPr lang="en-US" sz="3200" dirty="0"/>
          </a:p>
        </p:txBody>
      </p:sp>
      <p:sp>
        <p:nvSpPr>
          <p:cNvPr id="11" name="Text 7"/>
          <p:cNvSpPr txBox="1"/>
          <p:nvPr/>
        </p:nvSpPr>
        <p:spPr>
          <a:xfrm>
            <a:off x="8778240" y="3749040"/>
            <a:ext cx="2679192"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RMSE (LightGBM 기본 9.33 kW)</a:t>
            </a:r>
            <a:endParaRPr lang="en-US" sz="1200" dirty="0"/>
          </a:p>
        </p:txBody>
      </p:sp>
      <p:sp>
        <p:nvSpPr>
          <p:cNvPr id="12" name="수치 카드"/>
          <p:cNvSpPr/>
          <p:nvPr/>
        </p:nvSpPr>
        <p:spPr>
          <a:xfrm>
            <a:off x="8595360" y="4389120"/>
            <a:ext cx="3044952" cy="1325880"/>
          </a:xfrm>
          <a:prstGeom prst="roundRect">
            <a:avLst>
              <a:gd name="adj" fmla="val 5517"/>
            </a:avLst>
          </a:prstGeom>
          <a:solidFill>
            <a:schemeClr val="bg2"/>
          </a:solidFill>
          <a:ln w="12700">
            <a:solidFill>
              <a:schemeClr val="bg2"/>
            </a:solidFill>
            <a:prstDash val="solid"/>
          </a:ln>
        </p:spPr>
      </p:sp>
      <p:sp>
        <p:nvSpPr>
          <p:cNvPr id="13" name="Text 9"/>
          <p:cNvSpPr txBox="1"/>
          <p:nvPr/>
        </p:nvSpPr>
        <p:spPr>
          <a:xfrm>
            <a:off x="8778240" y="4517136"/>
            <a:ext cx="2679192" cy="685800"/>
          </a:xfrm>
          <a:prstGeom prst="rect">
            <a:avLst/>
          </a:prstGeom>
          <a:noFill/>
          <a:ln/>
        </p:spPr>
        <p:txBody>
          <a:bodyPr wrap="square" lIns="0" tIns="0" rIns="0" bIns="0" rtlCol="0" anchor="ctr"/>
          <a:lstStyle/>
          <a:p>
            <a:pPr indent="0" marL="0">
              <a:spcAft>
                <a:spcPts val="500"/>
              </a:spcAft>
              <a:buNone/>
            </a:pPr>
            <a:r>
              <a:rPr lang="en-US" sz="3200" b="1" dirty="0">
                <a:solidFill>
                  <a:schemeClr val="tx1"/>
                </a:solidFill>
              </a:rPr>
              <a:t>8.7 %</a:t>
            </a:r>
            <a:endParaRPr lang="en-US" sz="3200" dirty="0"/>
          </a:p>
        </p:txBody>
      </p:sp>
      <p:sp>
        <p:nvSpPr>
          <p:cNvPr id="14" name="Text 10"/>
          <p:cNvSpPr txBox="1"/>
          <p:nvPr/>
        </p:nvSpPr>
        <p:spPr>
          <a:xfrm>
            <a:off x="8778240" y="5212080"/>
            <a:ext cx="2679192"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CV(RMSE) = RMSE ÷ 실측 평균</a:t>
            </a:r>
            <a:endParaRPr lang="en-US" sz="1200" dirty="0"/>
          </a:p>
        </p:txBody>
      </p:sp>
      <p:sp>
        <p:nvSpPr>
          <p:cNvPr id="15" name="Text 11"/>
          <p:cNvSpPr txBox="1"/>
          <p:nvPr/>
        </p:nvSpPr>
        <p:spPr>
          <a:xfrm>
            <a:off x="8595360" y="5833872"/>
            <a:ext cx="3044952" cy="457200"/>
          </a:xfrm>
          <a:prstGeom prst="rect">
            <a:avLst/>
          </a:prstGeom>
          <a:noFill/>
          <a:ln/>
        </p:spPr>
        <p:txBody>
          <a:bodyPr wrap="square" lIns="0" tIns="0" rIns="0" bIns="0" rtlCol="0" anchor="t"/>
          <a:lstStyle/>
          <a:p>
            <a:pPr indent="0" marL="0">
              <a:spcAft>
                <a:spcPts val="500"/>
              </a:spcAft>
              <a:buNone/>
            </a:pPr>
            <a:r>
              <a:rPr lang="en-US" sz="1200" dirty="0">
                <a:solidFill>
                  <a:schemeClr val="accent5"/>
                </a:solidFill>
              </a:rPr>
              <a:t>가장 큰 오차: 09-08 12시 계측 누락 직후 재기동</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15분 예측은 일 최대를 15 kW 낮게 봐서 따로 예측한다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일 최대 전용 예측과 예측구간</a:t>
            </a:r>
            <a:endParaRPr lang="en-US" sz="1200" dirty="0"/>
          </a:p>
        </p:txBody>
      </p:sp>
      <p:pic>
        <p:nvPicPr>
          <p:cNvPr id="5" name="일 최대 예측 비교 차트" descr="가동일 일 최대수요전력 예측 MAE(kW)">    </p:cNvPr>
          <p:cNvPicPr>
            <a:picLocks noChangeAspect="1"/>
          </p:cNvPicPr>
          <p:nvPr/>
        </p:nvPicPr>
        <p:blipFill>
          <a:blip r:embed="rId1"/>
          <a:stretch>
            <a:fillRect/>
          </a:stretch>
        </p:blipFill>
        <p:spPr>
          <a:xfrm>
            <a:off x="548640" y="1463040"/>
            <a:ext cx="5760720" cy="3017520"/>
          </a:xfrm>
          <a:prstGeom prst="rect">
            <a:avLst/>
          </a:prstGeom>
        </p:spPr>
      </p:pic>
      <p:pic>
        <p:nvPicPr>
          <p:cNvPr id="6" name="시험 구간 일 최대 실측 대 예측" descr="시험 구간 일 최대 실측 대 예측">    </p:cNvPr>
          <p:cNvPicPr>
            <a:picLocks noChangeAspect="1"/>
          </p:cNvPicPr>
          <p:nvPr/>
        </p:nvPicPr>
        <p:blipFill>
          <a:blip r:embed="rId2"/>
          <a:stretch>
            <a:fillRect/>
          </a:stretch>
        </p:blipFill>
        <p:spPr>
          <a:xfrm>
            <a:off x="6492240" y="2062361"/>
            <a:ext cx="5148072" cy="1818877"/>
          </a:xfrm>
          <a:prstGeom prst="rect">
            <a:avLst/>
          </a:prstGeom>
        </p:spPr>
      </p:pic>
      <p:sp>
        <p:nvSpPr>
          <p:cNvPr id="7" name="설명 카드"/>
          <p:cNvSpPr/>
          <p:nvPr/>
        </p:nvSpPr>
        <p:spPr>
          <a:xfrm>
            <a:off x="548640" y="4709160"/>
            <a:ext cx="3566160" cy="1554480"/>
          </a:xfrm>
          <a:prstGeom prst="roundRect">
            <a:avLst>
              <a:gd name="adj" fmla="val 4706"/>
            </a:avLst>
          </a:prstGeom>
          <a:solidFill>
            <a:schemeClr val="bg2"/>
          </a:solidFill>
          <a:ln w="12700">
            <a:solidFill>
              <a:schemeClr val="bg2"/>
            </a:solidFill>
            <a:prstDash val="solid"/>
          </a:ln>
        </p:spPr>
      </p:sp>
      <p:sp>
        <p:nvSpPr>
          <p:cNvPr id="8" name="Text 3"/>
          <p:cNvSpPr txBox="1"/>
          <p:nvPr/>
        </p:nvSpPr>
        <p:spPr>
          <a:xfrm>
            <a:off x="749808" y="4846320"/>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일 최대 앙상블</a:t>
            </a:r>
            <a:endParaRPr lang="en-US" sz="1400" dirty="0"/>
          </a:p>
        </p:txBody>
      </p:sp>
      <p:sp>
        <p:nvSpPr>
          <p:cNvPr id="9" name="Text 4"/>
          <p:cNvSpPr txBox="1"/>
          <p:nvPr/>
        </p:nvSpPr>
        <p:spPr>
          <a:xfrm>
            <a:off x="749808" y="5212080"/>
            <a:ext cx="3163824" cy="10058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일 단위 모델(생산계획·달력·기상) 50% + 직전 가동일 최대값 규칙 50%. 오차 방향이 달라 섞으면 둘 다보다 좋다</a:t>
            </a:r>
            <a:endParaRPr lang="en-US" sz="1200" dirty="0"/>
          </a:p>
        </p:txBody>
      </p:sp>
      <p:sp>
        <p:nvSpPr>
          <p:cNvPr id="10" name="설명 카드"/>
          <p:cNvSpPr/>
          <p:nvPr/>
        </p:nvSpPr>
        <p:spPr>
          <a:xfrm>
            <a:off x="4311396" y="4709160"/>
            <a:ext cx="3566160" cy="1554480"/>
          </a:xfrm>
          <a:prstGeom prst="roundRect">
            <a:avLst>
              <a:gd name="adj" fmla="val 4706"/>
            </a:avLst>
          </a:prstGeom>
          <a:solidFill>
            <a:schemeClr val="bg2"/>
          </a:solidFill>
          <a:ln w="12700">
            <a:solidFill>
              <a:schemeClr val="bg2"/>
            </a:solidFill>
            <a:prstDash val="solid"/>
          </a:ln>
        </p:spPr>
      </p:sp>
      <p:sp>
        <p:nvSpPr>
          <p:cNvPr id="11" name="Text 6"/>
          <p:cNvSpPr txBox="1"/>
          <p:nvPr/>
        </p:nvSpPr>
        <p:spPr>
          <a:xfrm>
            <a:off x="4512564" y="4846320"/>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예측구간(불확실성 추정)</a:t>
            </a:r>
            <a:endParaRPr lang="en-US" sz="1400" dirty="0"/>
          </a:p>
        </p:txBody>
      </p:sp>
      <p:sp>
        <p:nvSpPr>
          <p:cNvPr id="12" name="Text 7"/>
          <p:cNvSpPr txBox="1"/>
          <p:nvPr/>
        </p:nvSpPr>
        <p:spPr>
          <a:xfrm>
            <a:off x="4512564" y="5212080"/>
            <a:ext cx="3163824" cy="10058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P10~P90 구간을 검증 잔차로 ±3.38 kW 넓힘(컨포멀 보정). 시험 포함률 74.7% → 85.7%(목표 80%)</a:t>
            </a:r>
            <a:endParaRPr lang="en-US" sz="1200" dirty="0"/>
          </a:p>
        </p:txBody>
      </p:sp>
      <p:sp>
        <p:nvSpPr>
          <p:cNvPr id="13" name="설명 카드"/>
          <p:cNvSpPr/>
          <p:nvPr/>
        </p:nvSpPr>
        <p:spPr>
          <a:xfrm>
            <a:off x="8074152" y="4709160"/>
            <a:ext cx="3566160" cy="1554480"/>
          </a:xfrm>
          <a:prstGeom prst="roundRect">
            <a:avLst>
              <a:gd name="adj" fmla="val 4706"/>
            </a:avLst>
          </a:prstGeom>
          <a:solidFill>
            <a:schemeClr val="bg2"/>
          </a:solidFill>
          <a:ln w="12700">
            <a:solidFill>
              <a:schemeClr val="bg2"/>
            </a:solidFill>
            <a:prstDash val="solid"/>
          </a:ln>
        </p:spPr>
      </p:sp>
      <p:sp>
        <p:nvSpPr>
          <p:cNvPr id="14" name="Text 9"/>
          <p:cNvSpPr txBox="1"/>
          <p:nvPr/>
        </p:nvSpPr>
        <p:spPr>
          <a:xfrm>
            <a:off x="8275320" y="4846320"/>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활용</a:t>
            </a:r>
            <a:endParaRPr lang="en-US" sz="1400" dirty="0"/>
          </a:p>
        </p:txBody>
      </p:sp>
      <p:sp>
        <p:nvSpPr>
          <p:cNvPr id="15" name="Text 10"/>
          <p:cNvSpPr txBox="1"/>
          <p:nvPr/>
        </p:nvSpPr>
        <p:spPr>
          <a:xfrm>
            <a:off x="8275320" y="5212080"/>
            <a:ext cx="3163824" cy="10058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일 최대 예측은 6단계의 하루 전 경보 기준으로, 예측구간은 여유 판단에 쓴다</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피크 경보는 예측값 170 kW 기준이 가장 좋았고, 확률은 보정해 위험도로 쓴다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피크 발생 확률 예측(불균형 학습, 확률보정)</a:t>
            </a:r>
            <a:endParaRPr lang="en-US" sz="1200" dirty="0"/>
          </a:p>
        </p:txBody>
      </p:sp>
      <p:pic>
        <p:nvPicPr>
          <p:cNvPr id="5" name="피크 확률 F1 차트" descr="피크 판정 F1(높을수록 좋음)">    </p:cNvPr>
          <p:cNvPicPr>
            <a:picLocks noChangeAspect="1"/>
          </p:cNvPicPr>
          <p:nvPr/>
        </p:nvPicPr>
        <p:blipFill>
          <a:blip r:embed="rId1"/>
          <a:stretch>
            <a:fillRect/>
          </a:stretch>
        </p:blipFill>
        <p:spPr>
          <a:xfrm>
            <a:off x="548640" y="1463040"/>
            <a:ext cx="6309360" cy="2788920"/>
          </a:xfrm>
          <a:prstGeom prst="rect">
            <a:avLst/>
          </a:prstGeom>
        </p:spPr>
      </p:pic>
      <p:pic>
        <p:nvPicPr>
          <p:cNvPr id="6" name="확률보정 전후 신뢰도 곡선과 시험 구간 피크 발생 확률" descr="확률보정 전후 신뢰도 곡선과 시험 구간 피크 발생 확률">    </p:cNvPr>
          <p:cNvPicPr>
            <a:picLocks noChangeAspect="1"/>
          </p:cNvPicPr>
          <p:nvPr/>
        </p:nvPicPr>
        <p:blipFill>
          <a:blip r:embed="rId2"/>
          <a:stretch>
            <a:fillRect/>
          </a:stretch>
        </p:blipFill>
        <p:spPr>
          <a:xfrm>
            <a:off x="1465689" y="4343400"/>
            <a:ext cx="4475261" cy="1965960"/>
          </a:xfrm>
          <a:prstGeom prst="rect">
            <a:avLst/>
          </a:prstGeom>
        </p:spPr>
      </p:pic>
      <p:sp>
        <p:nvSpPr>
          <p:cNvPr id="7" name="해석 카드"/>
          <p:cNvSpPr/>
          <p:nvPr/>
        </p:nvSpPr>
        <p:spPr>
          <a:xfrm>
            <a:off x="7086600" y="1463040"/>
            <a:ext cx="4553712" cy="4846320"/>
          </a:xfrm>
          <a:prstGeom prst="roundRect">
            <a:avLst>
              <a:gd name="adj" fmla="val 1606"/>
            </a:avLst>
          </a:prstGeom>
          <a:solidFill>
            <a:schemeClr val="bg2"/>
          </a:solidFill>
          <a:ln w="12700">
            <a:solidFill>
              <a:schemeClr val="bg2"/>
            </a:solidFill>
            <a:prstDash val="solid"/>
          </a:ln>
        </p:spPr>
      </p:sp>
      <p:sp>
        <p:nvSpPr>
          <p:cNvPr id="8" name="Text 3"/>
          <p:cNvSpPr txBox="1"/>
          <p:nvPr/>
        </p:nvSpPr>
        <p:spPr>
          <a:xfrm>
            <a:off x="7287768" y="1627632"/>
            <a:ext cx="4160520" cy="548640"/>
          </a:xfrm>
          <a:prstGeom prst="rect">
            <a:avLst/>
          </a:prstGeom>
          <a:noFill/>
          <a:ln/>
        </p:spPr>
        <p:txBody>
          <a:bodyPr wrap="square" lIns="0" tIns="0" rIns="0" bIns="0" rtlCol="0" anchor="t"/>
          <a:lstStyle/>
          <a:p>
            <a:pPr indent="0" marL="0">
              <a:spcAft>
                <a:spcPts val="500"/>
              </a:spcAft>
              <a:buNone/>
            </a:pPr>
            <a:r>
              <a:rPr lang="en-US" sz="1500" b="1" dirty="0">
                <a:solidFill>
                  <a:schemeClr val="accent2"/>
                </a:solidFill>
              </a:rPr>
              <a:t>경보: 예측값 170 kW 이상 / 위험도: LightGBM 분류 + 확률보정</a:t>
            </a:r>
            <a:endParaRPr lang="en-US" sz="1500" dirty="0"/>
          </a:p>
        </p:txBody>
      </p:sp>
      <p:sp>
        <p:nvSpPr>
          <p:cNvPr id="9" name="Text 4"/>
          <p:cNvSpPr txBox="1"/>
          <p:nvPr/>
        </p:nvSpPr>
        <p:spPr>
          <a:xfrm>
            <a:off x="7287768" y="2240280"/>
            <a:ext cx="4160520" cy="397764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선정 규칙: </a:t>
            </a:r>
            <a:pPr indent="0" marL="0">
              <a:spcAft>
                <a:spcPts val="700"/>
              </a:spcAft>
              <a:buNone/>
            </a:pPr>
            <a:r>
              <a:rPr lang="en-US" sz="1300" dirty="0">
                <a:solidFill>
                  <a:schemeClr val="tx2"/>
                </a:solidFill>
              </a:rPr>
              <a:t>백테스트 F1이 가장 높은 방식을 경보 규칙으로. 0.69로 예측값 170 kW 기준이 선정</a:t>
            </a:r>
            <a:endParaRPr lang="en-US" sz="1300" dirty="0"/>
          </a:p>
          <a:p>
            <a:pPr marL="342900" indent="-342900">
              <a:spcAft>
                <a:spcPts val="700"/>
              </a:spcAft>
              <a:buSzPct val="100000"/>
              <a:buChar char="•"/>
            </a:pPr>
            <a:r>
              <a:rPr lang="en-US" sz="1300" b="1" dirty="0">
                <a:solidFill>
                  <a:schemeClr val="tx1"/>
                </a:solidFill>
              </a:rPr>
              <a:t>시험: </a:t>
            </a:r>
            <a:pPr indent="0" marL="0">
              <a:spcAft>
                <a:spcPts val="700"/>
              </a:spcAft>
              <a:buNone/>
            </a:pPr>
            <a:r>
              <a:rPr lang="en-US" sz="1300" dirty="0">
                <a:solidFill>
                  <a:schemeClr val="tx2"/>
                </a:solidFill>
              </a:rPr>
              <a:t>F1 0.46(재현율 0.72, 정밀도 0.34). 베이스라인은 0.37, 0.39. 시험 피크는 87개 슬롯뿐이라 변동이 크다</a:t>
            </a:r>
            <a:endParaRPr lang="en-US" sz="1300" dirty="0"/>
          </a:p>
          <a:p>
            <a:pPr marL="342900" indent="-342900">
              <a:spcAft>
                <a:spcPts val="700"/>
              </a:spcAft>
              <a:buSzPct val="100000"/>
              <a:buChar char="•"/>
            </a:pPr>
            <a:r>
              <a:rPr lang="en-US" sz="1300" b="1" dirty="0">
                <a:solidFill>
                  <a:schemeClr val="tx1"/>
                </a:solidFill>
              </a:rPr>
              <a:t>불균형 가중: </a:t>
            </a:r>
            <a:pPr indent="0" marL="0">
              <a:spcAft>
                <a:spcPts val="700"/>
              </a:spcAft>
              <a:buNone/>
            </a:pPr>
            <a:r>
              <a:rPr lang="en-US" sz="1300" dirty="0">
                <a:solidFill>
                  <a:schemeClr val="tx2"/>
                </a:solidFill>
              </a:rPr>
              <a:t>재현율이 0.92로 오르지만 정밀도 0.33. 놓치지 않는 것이 중요할 때 쓴다</a:t>
            </a:r>
            <a:endParaRPr lang="en-US" sz="1300" dirty="0"/>
          </a:p>
          <a:p>
            <a:pPr marL="342900" indent="-342900">
              <a:spcAft>
                <a:spcPts val="700"/>
              </a:spcAft>
              <a:buSzPct val="100000"/>
              <a:buChar char="•"/>
            </a:pPr>
            <a:r>
              <a:rPr lang="en-US" sz="1300" b="1" dirty="0">
                <a:solidFill>
                  <a:schemeClr val="tx1"/>
                </a:solidFill>
              </a:rPr>
              <a:t>확률보정(등위 회귀): </a:t>
            </a:r>
            <a:pPr indent="0" marL="0">
              <a:spcAft>
                <a:spcPts val="700"/>
              </a:spcAft>
              <a:buNone/>
            </a:pPr>
            <a:r>
              <a:rPr lang="en-US" sz="1300" dirty="0">
                <a:solidFill>
                  <a:schemeClr val="tx2"/>
                </a:solidFill>
              </a:rPr>
              <a:t>Brier 0.049 → 0.047. 보정한 확률을 날짜별 점검 우선순위로 제공</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전력을 가장 크게 움직이는 것은 당시간 생산계획량이다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1단계 · 주요 영향변수와 상호작용</a:t>
            </a:r>
            <a:endParaRPr lang="en-US" sz="1200" dirty="0"/>
          </a:p>
        </p:txBody>
      </p:sp>
      <p:pic>
        <p:nvPicPr>
          <p:cNvPr id="5" name="15분 전력 예측 주요 영향변수(SHAP)" descr="15분 전력 예측 주요 영향변수(SHAP)">    </p:cNvPr>
          <p:cNvPicPr>
            <a:picLocks noChangeAspect="1"/>
          </p:cNvPicPr>
          <p:nvPr/>
        </p:nvPicPr>
        <p:blipFill>
          <a:blip r:embed="rId1"/>
          <a:stretch>
            <a:fillRect/>
          </a:stretch>
        </p:blipFill>
        <p:spPr>
          <a:xfrm>
            <a:off x="548640" y="1795007"/>
            <a:ext cx="5760720" cy="4090946"/>
          </a:xfrm>
          <a:prstGeom prst="rect">
            <a:avLst/>
          </a:prstGeom>
        </p:spPr>
      </p:pic>
      <p:sp>
        <p:nvSpPr>
          <p:cNvPr id="6" name="Text 2"/>
          <p:cNvSpPr txBox="1"/>
          <p:nvPr/>
        </p:nvSpPr>
        <p:spPr>
          <a:xfrm>
            <a:off x="6583680" y="1508760"/>
            <a:ext cx="5029200"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변수 간 상호작용 상위 3개</a:t>
            </a:r>
            <a:endParaRPr lang="en-US" sz="1600" dirty="0"/>
          </a:p>
        </p:txBody>
      </p:sp>
      <p:graphicFrame>
        <p:nvGraphicFramePr>
          <p:cNvPr id="18" name="표"/>
          <p:cNvGraphicFramePr>
            <a:graphicFrameLocks noGrp="1"/>
          </p:cNvGraphicFramePr>
          <p:nvPr>
            <p:extLst>
              <p:ext uri="{D42A27DB-BD31-4B8C-83A1-F6EECF244321}">
                <p14:modId xmlns:p14="http://schemas.microsoft.com/office/powerpoint/2010/main" val="1579011935"/>
              </p:ext>
            </p:extLst>
          </p:nvPr>
        </p:nvGraphicFramePr>
        <p:xfrm>
          <a:off x="6583680" y="1965960"/>
          <a:ext cx="5056632" cy="914400"/>
        </p:xfrm>
        <a:graphic>
          <a:graphicData uri="http://schemas.openxmlformats.org/drawingml/2006/table">
            <a:tbl>
              <a:tblPr/>
              <a:tblGrid>
                <a:gridCol w="1828800"/>
                <a:gridCol w="777240"/>
                <a:gridCol w="2450592"/>
              </a:tblGrid>
              <a:tr h="777240">
                <a:tc>
                  <a:txBody>
                    <a:bodyPr/>
                    <a:lstStyle/>
                    <a:p>
                      <a:pPr algn="l" indent="0" marL="0">
                        <a:buNone/>
                      </a:pPr>
                      <a:r>
                        <a:rPr lang="en-US" sz="1200" b="1" dirty="0">
                          <a:solidFill>
                            <a:schemeClr val="bg1"/>
                          </a:solidFill>
                        </a:rPr>
                        <a:t>변수 쌍</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크기(kW)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의미</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777240">
                <a:tc>
                  <a:txBody>
                    <a:bodyPr/>
                    <a:lstStyle/>
                    <a:p>
                      <a:pPr indent="0" marL="0">
                        <a:buNone/>
                      </a:pPr>
                      <a:r>
                        <a:rPr lang="en-US" sz="1200" dirty="0">
                          <a:solidFill>
                            <a:schemeClr val="tx2"/>
                          </a:solidFill>
                        </a:rPr>
                        <a:t>생산계획량 × 마지막 생산 시각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2.35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같은 생산량이라도 그날 생산이 저녁까지 이어지면 전력이 달라진다(잔업 여부)</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777240">
                <a:tc>
                  <a:txBody>
                    <a:bodyPr/>
                    <a:lstStyle/>
                    <a:p>
                      <a:pPr indent="0" marL="0">
                        <a:buNone/>
                      </a:pPr>
                      <a:r>
                        <a:rPr lang="en-US" sz="1200" dirty="0">
                          <a:solidFill>
                            <a:schemeClr val="tx2"/>
                          </a:solidFill>
                        </a:rPr>
                        <a:t>시각 × 생산계획량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1.76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오전에는 적은 생산에도 부하가 높다. 시작 직후에는 생산과 무관한 기동 부하가 있다</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777240">
                <a:tc>
                  <a:txBody>
                    <a:bodyPr/>
                    <a:lstStyle/>
                    <a:p>
                      <a:pPr indent="0" marL="0">
                        <a:buNone/>
                      </a:pPr>
                      <a:r>
                        <a:rPr lang="en-US" sz="1200" dirty="0">
                          <a:solidFill>
                            <a:schemeClr val="tx2"/>
                          </a:solidFill>
                        </a:rPr>
                        <a:t>마지막 생산까지 남은 시간 × 마지막 생산 시각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1.58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생산 종료가 가까울수록 부하가 내려가는데, 그 속도가 종료 시각(주간 종료·잔업)에 따라 다르다</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8" name="주석 카드"/>
          <p:cNvSpPr/>
          <p:nvPr/>
        </p:nvSpPr>
        <p:spPr>
          <a:xfrm>
            <a:off x="6583680" y="5074920"/>
            <a:ext cx="5056632" cy="1188720"/>
          </a:xfrm>
          <a:prstGeom prst="roundRect">
            <a:avLst>
              <a:gd name="adj" fmla="val 6154"/>
            </a:avLst>
          </a:prstGeom>
          <a:solidFill>
            <a:schemeClr val="bg2"/>
          </a:solidFill>
          <a:ln w="12700">
            <a:solidFill>
              <a:schemeClr val="bg2"/>
            </a:solidFill>
            <a:prstDash val="solid"/>
          </a:ln>
        </p:spPr>
      </p:sp>
      <p:sp>
        <p:nvSpPr>
          <p:cNvPr id="9" name="Text 4"/>
          <p:cNvSpPr txBox="1"/>
          <p:nvPr/>
        </p:nvSpPr>
        <p:spPr>
          <a:xfrm>
            <a:off x="6784848" y="5193792"/>
            <a:ext cx="4663440" cy="960120"/>
          </a:xfrm>
          <a:prstGeom prst="rect">
            <a:avLst/>
          </a:prstGeom>
          <a:noFill/>
          <a:ln/>
        </p:spPr>
        <p:txBody>
          <a:bodyPr wrap="square" lIns="0" tIns="0" rIns="0" bIns="0" rtlCol="0" anchor="ctr"/>
          <a:lstStyle/>
          <a:p>
            <a:pPr indent="0" marL="0">
              <a:spcAft>
                <a:spcPts val="500"/>
              </a:spcAft>
              <a:buNone/>
            </a:pPr>
            <a:r>
              <a:rPr lang="en-US" sz="1300" dirty="0">
                <a:solidFill>
                  <a:schemeClr val="tx2"/>
                </a:solidFill>
              </a:rPr>
              <a:t>같은 입력 39개로 학습한 LightGBM으로 본 결과다. 중요도 상위는 생산계획량(18.3 kW), 시각(9.4), 마지막 생산 시각(6.4) 순이다.</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피크 시간의 오차는 전체의 1.7배이고 거의 전부 낮게 예측한다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2단계 · 피크 시간 MAE 대 전체 MAE</a:t>
            </a:r>
            <a:endParaRPr lang="en-US" sz="1200" dirty="0"/>
          </a:p>
        </p:txBody>
      </p:sp>
      <p:pic>
        <p:nvPicPr>
          <p:cNvPr id="5" name="피크 시간 MAE 차트" descr="구간별 MAE(kW)">    </p:cNvPr>
          <p:cNvPicPr>
            <a:picLocks noChangeAspect="1"/>
          </p:cNvPicPr>
          <p:nvPr/>
        </p:nvPicPr>
        <p:blipFill>
          <a:blip r:embed="rId1"/>
          <a:stretch>
            <a:fillRect/>
          </a:stretch>
        </p:blipFill>
        <p:spPr>
          <a:xfrm>
            <a:off x="548640" y="1463040"/>
            <a:ext cx="5669280" cy="3291840"/>
          </a:xfrm>
          <a:prstGeom prst="rect">
            <a:avLst/>
          </a:prstGeom>
        </p:spPr>
      </p:pic>
      <p:graphicFrame>
        <p:nvGraphicFramePr>
          <p:cNvPr id="19" name="표"/>
          <p:cNvGraphicFramePr>
            <a:graphicFrameLocks noGrp="1"/>
          </p:cNvGraphicFramePr>
          <p:nvPr>
            <p:extLst>
              <p:ext uri="{D42A27DB-BD31-4B8C-83A1-F6EECF244321}">
                <p14:modId xmlns:p14="http://schemas.microsoft.com/office/powerpoint/2010/main" val="1579011935"/>
              </p:ext>
            </p:extLst>
          </p:nvPr>
        </p:nvGraphicFramePr>
        <p:xfrm>
          <a:off x="6400800" y="1508760"/>
          <a:ext cx="5239512" cy="914400"/>
        </p:xfrm>
        <a:graphic>
          <a:graphicData uri="http://schemas.openxmlformats.org/drawingml/2006/table">
            <a:tbl>
              <a:tblPr/>
              <a:tblGrid>
                <a:gridCol w="2514600"/>
                <a:gridCol w="822960"/>
                <a:gridCol w="731520"/>
                <a:gridCol w="1170432"/>
              </a:tblGrid>
              <a:tr h="411480">
                <a:tc>
                  <a:txBody>
                    <a:bodyPr/>
                    <a:lstStyle/>
                    <a:p>
                      <a:pPr algn="l" indent="0" marL="0">
                        <a:buNone/>
                      </a:pPr>
                      <a:r>
                        <a:rPr lang="en-US" sz="1200" b="1" dirty="0">
                          <a:solidFill>
                            <a:schemeClr val="bg1"/>
                          </a:solidFill>
                        </a:rPr>
                        <a:t>구간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슬롯 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MAE</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Bias(예측-실측)</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411480">
                <a:tc>
                  <a:txBody>
                    <a:bodyPr/>
                    <a:lstStyle/>
                    <a:p>
                      <a:pPr indent="0" marL="0">
                        <a:buNone/>
                      </a:pPr>
                      <a:r>
                        <a:rPr lang="en-US" sz="1200" dirty="0">
                          <a:solidFill>
                            <a:schemeClr val="tx2"/>
                          </a:solidFill>
                        </a:rPr>
                        <a:t>전체</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6,454</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7.18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-0.77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2"/>
                          </a:solidFill>
                        </a:rPr>
                        <a:t>피크 아닌 시간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5,776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6.55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+0.47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1"/>
                          </a:solidFill>
                        </a:rPr>
                        <a:t>피크 시간(실측 180 kW 이상)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678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12.54</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-11.34</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2"/>
                          </a:solidFill>
                        </a:rPr>
                        <a:t>유형1 피크 구간(시작·재개 직후)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479</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11.73</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-9.79</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411480">
                <a:tc>
                  <a:txBody>
                    <a:bodyPr/>
                    <a:lstStyle/>
                    <a:p>
                      <a:pPr indent="0" marL="0">
                        <a:buNone/>
                      </a:pPr>
                      <a:r>
                        <a:rPr lang="en-US" sz="1200" dirty="0">
                          <a:solidFill>
                            <a:schemeClr val="tx2"/>
                          </a:solidFill>
                        </a:rPr>
                        <a:t>유형2 피크 구간(가동 중)</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277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12.81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-11.53</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7" name="분석 대상 카드"/>
          <p:cNvSpPr/>
          <p:nvPr/>
        </p:nvSpPr>
        <p:spPr>
          <a:xfrm>
            <a:off x="6400800" y="4069080"/>
            <a:ext cx="5239512" cy="685800"/>
          </a:xfrm>
          <a:prstGeom prst="roundRect">
            <a:avLst>
              <a:gd name="adj" fmla="val 10667"/>
            </a:avLst>
          </a:prstGeom>
          <a:solidFill>
            <a:schemeClr val="bg2"/>
          </a:solidFill>
          <a:ln w="12700">
            <a:solidFill>
              <a:schemeClr val="bg2"/>
            </a:solidFill>
            <a:prstDash val="solid"/>
          </a:ln>
        </p:spPr>
      </p:sp>
      <p:sp>
        <p:nvSpPr>
          <p:cNvPr id="8" name="Text 3"/>
          <p:cNvSpPr txBox="1"/>
          <p:nvPr/>
        </p:nvSpPr>
        <p:spPr>
          <a:xfrm>
            <a:off x="6583680" y="4114800"/>
            <a:ext cx="4892040" cy="594360"/>
          </a:xfrm>
          <a:prstGeom prst="rect">
            <a:avLst/>
          </a:prstGeom>
          <a:noFill/>
          <a:ln/>
        </p:spPr>
        <p:txBody>
          <a:bodyPr wrap="square" lIns="0" tIns="0" rIns="0" bIns="0" rtlCol="0" anchor="ctr"/>
          <a:lstStyle/>
          <a:p>
            <a:pPr indent="0" marL="0">
              <a:spcAft>
                <a:spcPts val="500"/>
              </a:spcAft>
              <a:buNone/>
            </a:pPr>
            <a:r>
              <a:rPr lang="en-US" sz="1300" dirty="0">
                <a:solidFill>
                  <a:schemeClr val="tx2"/>
                </a:solidFill>
              </a:rPr>
              <a:t>분석 대상: 표본 외 예측 10주(Valid 8주 + Test 2주, 6,454 슬롯)</a:t>
            </a:r>
            <a:endParaRPr lang="en-US" sz="1300" dirty="0"/>
          </a:p>
        </p:txBody>
      </p:sp>
      <p:sp>
        <p:nvSpPr>
          <p:cNvPr id="9" name="결론 카드"/>
          <p:cNvSpPr/>
          <p:nvPr/>
        </p:nvSpPr>
        <p:spPr>
          <a:xfrm>
            <a:off x="548640" y="4983480"/>
            <a:ext cx="11091672" cy="1280160"/>
          </a:xfrm>
          <a:prstGeom prst="roundRect">
            <a:avLst>
              <a:gd name="adj" fmla="val 5714"/>
            </a:avLst>
          </a:prstGeom>
          <a:solidFill>
            <a:schemeClr val="bg2"/>
          </a:solidFill>
          <a:ln w="12700">
            <a:solidFill>
              <a:schemeClr val="bg2"/>
            </a:solidFill>
            <a:prstDash val="solid"/>
          </a:ln>
        </p:spPr>
      </p:sp>
      <p:sp>
        <p:nvSpPr>
          <p:cNvPr id="10" name="Text 5"/>
          <p:cNvSpPr txBox="1"/>
          <p:nvPr/>
        </p:nvSpPr>
        <p:spPr>
          <a:xfrm>
            <a:off x="777240" y="5074920"/>
            <a:ext cx="10634472" cy="1097280"/>
          </a:xfrm>
          <a:prstGeom prst="rect">
            <a:avLst/>
          </a:prstGeom>
          <a:noFill/>
          <a:ln/>
        </p:spPr>
        <p:txBody>
          <a:bodyPr wrap="square" lIns="0" tIns="0" rIns="0" bIns="0" rtlCol="0" anchor="ctr"/>
          <a:lstStyle/>
          <a:p>
            <a:pPr indent="0" marL="0">
              <a:spcAft>
                <a:spcPts val="500"/>
              </a:spcAft>
              <a:buNone/>
            </a:pPr>
            <a:r>
              <a:rPr lang="en-US" sz="1500" b="1" dirty="0">
                <a:solidFill>
                  <a:schemeClr val="accent2"/>
                </a:solidFill>
              </a:rPr>
              <a:t>의미와 대응  </a:t>
            </a:r>
            <a:pPr indent="0" marL="0">
              <a:spcAft>
                <a:spcPts val="500"/>
              </a:spcAft>
              <a:buNone/>
            </a:pPr>
            <a:r>
              <a:rPr lang="en-US" sz="1500" dirty="0">
                <a:solidFill>
                  <a:schemeClr val="tx2"/>
                </a:solidFill>
              </a:rPr>
              <a:t>평균 오차만 보면 드러나지 않지만, 정작 중요한 피크에서 약 11 kW 낮게 예측한다. 그래서 피크는 15분 예측을 그대로 쓰지 않고 일 최대 전용 예측(오차 5.82 kW)과, 180이 아닌 170 kW로 낮춘 경보 기준으로 보완했다.</a:t>
            </a:r>
            <a:endParaRPr lang="en-US" sz="15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오차는 저녁 잔업, 재가동일, 고온, 특수일에서 커진다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2단계 · 시간대·생산조건·가동상태별 오차</a:t>
            </a:r>
            <a:endParaRPr lang="en-US" sz="1200" dirty="0"/>
          </a:p>
        </p:txBody>
      </p:sp>
      <p:pic>
        <p:nvPicPr>
          <p:cNvPr id="5" name="시각 × 요일별 평균 절대오차와 운영상태별 오차" descr="시각 × 요일별 평균 절대오차와 운영상태별 오차">    </p:cNvPr>
          <p:cNvPicPr>
            <a:picLocks noChangeAspect="1"/>
          </p:cNvPicPr>
          <p:nvPr/>
        </p:nvPicPr>
        <p:blipFill>
          <a:blip r:embed="rId1"/>
          <a:stretch>
            <a:fillRect/>
          </a:stretch>
        </p:blipFill>
        <p:spPr>
          <a:xfrm>
            <a:off x="911055" y="1417320"/>
            <a:ext cx="6041731" cy="1920240"/>
          </a:xfrm>
          <a:prstGeom prst="rect">
            <a:avLst/>
          </a:prstGeom>
        </p:spPr>
      </p:pic>
      <p:graphicFrame>
        <p:nvGraphicFramePr>
          <p:cNvPr id="20" name="표"/>
          <p:cNvGraphicFramePr>
            <a:graphicFrameLocks noGrp="1"/>
          </p:cNvGraphicFramePr>
          <p:nvPr>
            <p:extLst>
              <p:ext uri="{D42A27DB-BD31-4B8C-83A1-F6EECF244321}">
                <p14:modId xmlns:p14="http://schemas.microsoft.com/office/powerpoint/2010/main" val="1579011935"/>
              </p:ext>
            </p:extLst>
          </p:nvPr>
        </p:nvGraphicFramePr>
        <p:xfrm>
          <a:off x="548640" y="3474720"/>
          <a:ext cx="6766560" cy="914400"/>
        </p:xfrm>
        <a:graphic>
          <a:graphicData uri="http://schemas.openxmlformats.org/drawingml/2006/table">
            <a:tbl>
              <a:tblPr/>
              <a:tblGrid>
                <a:gridCol w="1965960"/>
                <a:gridCol w="1097280"/>
                <a:gridCol w="1234440"/>
                <a:gridCol w="2468880"/>
              </a:tblGrid>
              <a:tr h="347472">
                <a:tc>
                  <a:txBody>
                    <a:bodyPr/>
                    <a:lstStyle/>
                    <a:p>
                      <a:pPr algn="l" indent="0" marL="0">
                        <a:buNone/>
                      </a:pPr>
                      <a:r>
                        <a:rPr lang="en-US" sz="1200" b="1" dirty="0">
                          <a:solidFill>
                            <a:schemeClr val="bg1"/>
                          </a:solidFill>
                        </a:rPr>
                        <a:t>조건</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MAE</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Bias</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해석</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47472">
                <a:tc>
                  <a:txBody>
                    <a:bodyPr/>
                    <a:lstStyle/>
                    <a:p>
                      <a:pPr indent="0" marL="0">
                        <a:buNone/>
                      </a:pPr>
                      <a:r>
                        <a:rPr lang="en-US" sz="1200" dirty="0">
                          <a:solidFill>
                            <a:schemeClr val="tx2"/>
                          </a:solidFill>
                        </a:rPr>
                        <a:t>비가동일 / 새벽</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3.05 / 5.68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+0.20 / -0.77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부하가 낮고 안정적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47472">
                <a:tc>
                  <a:txBody>
                    <a:bodyPr/>
                    <a:lstStyle/>
                    <a:p>
                      <a:pPr indent="0" marL="0">
                        <a:buNone/>
                      </a:pPr>
                      <a:r>
                        <a:rPr lang="en-US" sz="1200" dirty="0">
                          <a:solidFill>
                            <a:schemeClr val="tx2"/>
                          </a:solidFill>
                        </a:rPr>
                        <a:t>오전 가동 시작(7~9시)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10.48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-1.35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15분 사이 100 kW 변동</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47472">
                <a:tc>
                  <a:txBody>
                    <a:bodyPr/>
                    <a:lstStyle/>
                    <a:p>
                      <a:pPr indent="0" marL="0">
                        <a:buNone/>
                      </a:pPr>
                      <a:r>
                        <a:rPr lang="en-US" sz="1200" dirty="0">
                          <a:solidFill>
                            <a:schemeClr val="tx2"/>
                          </a:solidFill>
                        </a:rPr>
                        <a:t>오전·오후 가동 중</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10.84 / 11.62</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-1.48 / -2.05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고부하 구간의 15분 변동</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47472">
                <a:tc>
                  <a:txBody>
                    <a:bodyPr/>
                    <a:lstStyle/>
                    <a:p>
                      <a:pPr indent="0" marL="0">
                        <a:buNone/>
                      </a:pPr>
                      <a:r>
                        <a:rPr lang="en-US" sz="1200" b="1" dirty="0">
                          <a:solidFill>
                            <a:schemeClr val="tx1"/>
                          </a:solidFill>
                        </a:rPr>
                        <a:t>저녁·야간(17시~)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9.07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-1.11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잔업이 계획에 덜 드러남(기여 26%)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재가동일</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8.30</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+2.02</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주말 후 시작을 높게 예측</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47472">
                <a:tc>
                  <a:txBody>
                    <a:bodyPr/>
                    <a:lstStyle/>
                    <a:p>
                      <a:pPr indent="0" marL="0">
                        <a:buNone/>
                      </a:pPr>
                      <a:r>
                        <a:rPr lang="en-US" sz="1200" b="1" dirty="0">
                          <a:solidFill>
                            <a:schemeClr val="tx1"/>
                          </a:solidFill>
                        </a:rPr>
                        <a:t>기온 26℃ 이상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8.39</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-2.76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냉방 부하를 낮게 예측</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bl>
          </a:graphicData>
        </a:graphic>
      </p:graphicFrame>
      <p:sp>
        <p:nvSpPr>
          <p:cNvPr id="7" name="특수일 카드"/>
          <p:cNvSpPr/>
          <p:nvPr/>
        </p:nvSpPr>
        <p:spPr>
          <a:xfrm>
            <a:off x="7543800" y="1417320"/>
            <a:ext cx="4096512" cy="4892040"/>
          </a:xfrm>
          <a:prstGeom prst="roundRect">
            <a:avLst>
              <a:gd name="adj" fmla="val 1786"/>
            </a:avLst>
          </a:prstGeom>
          <a:solidFill>
            <a:schemeClr val="bg2"/>
          </a:solidFill>
          <a:ln w="12700">
            <a:solidFill>
              <a:schemeClr val="bg2"/>
            </a:solidFill>
            <a:prstDash val="solid"/>
          </a:ln>
        </p:spPr>
      </p:sp>
      <p:sp>
        <p:nvSpPr>
          <p:cNvPr id="8" name="Text 3"/>
          <p:cNvSpPr txBox="1"/>
          <p:nvPr/>
        </p:nvSpPr>
        <p:spPr>
          <a:xfrm>
            <a:off x="7744968" y="1572768"/>
            <a:ext cx="3749040" cy="5486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큰 오차(상위 10%, 16.8 kW 이상)의 실체</a:t>
            </a:r>
            <a:endParaRPr lang="en-US" sz="1500" dirty="0"/>
          </a:p>
        </p:txBody>
      </p:sp>
      <p:sp>
        <p:nvSpPr>
          <p:cNvPr id="9" name="Text 4"/>
          <p:cNvSpPr txBox="1"/>
          <p:nvPr/>
        </p:nvSpPr>
        <p:spPr>
          <a:xfrm>
            <a:off x="7744968" y="2148840"/>
            <a:ext cx="3703320" cy="91440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의사결정나무 규칙: 일 생산계획이 12,766개 이하로 적은 날 → 340개 슬롯 중 28~36%가 큰 오차(전체 평균 10%). 계획이 많은 날의 고생산 시간도 37%</a:t>
            </a:r>
            <a:endParaRPr lang="en-US" sz="1300" dirty="0"/>
          </a:p>
        </p:txBody>
      </p:sp>
      <p:sp>
        <p:nvSpPr>
          <p:cNvPr id="10" name="Text 5"/>
          <p:cNvSpPr txBox="1"/>
          <p:nvPr/>
        </p:nvSpPr>
        <p:spPr>
          <a:xfrm>
            <a:off x="7744968" y="3108960"/>
            <a:ext cx="3703320" cy="173736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07-30(하계휴가 직전): </a:t>
            </a:r>
            <a:pPr indent="0" marL="0">
              <a:spcAft>
                <a:spcPts val="700"/>
              </a:spcAft>
              <a:buNone/>
            </a:pPr>
            <a:r>
              <a:rPr lang="en-US" sz="1300" dirty="0">
                <a:solidFill>
                  <a:schemeClr val="tx2"/>
                </a:solidFill>
              </a:rPr>
              <a:t>계획은 적었지만 설비는 평소처럼 가동. 평균 18.5 kW 낮게 예측</a:t>
            </a:r>
            <a:endParaRPr lang="en-US" sz="1300" dirty="0"/>
          </a:p>
          <a:p>
            <a:pPr marL="342900" indent="-342900">
              <a:spcAft>
                <a:spcPts val="700"/>
              </a:spcAft>
              <a:buSzPct val="100000"/>
              <a:buChar char="•"/>
            </a:pPr>
            <a:r>
              <a:rPr lang="en-US" sz="1300" b="1" dirty="0">
                <a:solidFill>
                  <a:schemeClr val="tx1"/>
                </a:solidFill>
              </a:rPr>
              <a:t>08-16(대체공휴일): </a:t>
            </a:r>
            <a:pPr indent="0" marL="0">
              <a:spcAft>
                <a:spcPts val="700"/>
              </a:spcAft>
              <a:buNone/>
            </a:pPr>
            <a:r>
              <a:rPr lang="en-US" sz="1300" dirty="0">
                <a:solidFill>
                  <a:schemeClr val="tx2"/>
                </a:solidFill>
              </a:rPr>
              <a:t>부분 가동. 평균 18.6 kW 높게 예측</a:t>
            </a:r>
            <a:endParaRPr lang="en-US" sz="1300" dirty="0"/>
          </a:p>
        </p:txBody>
      </p:sp>
      <p:sp>
        <p:nvSpPr>
          <p:cNvPr id="11" name="Text 6"/>
          <p:cNvSpPr txBox="1"/>
          <p:nvPr/>
        </p:nvSpPr>
        <p:spPr>
          <a:xfrm>
            <a:off x="7744968" y="4983480"/>
            <a:ext cx="3703320" cy="118872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개선안  </a:t>
            </a:r>
            <a:pPr indent="0" marL="0">
              <a:spcAft>
                <a:spcPts val="500"/>
              </a:spcAft>
              <a:buNone/>
            </a:pPr>
            <a:r>
              <a:rPr lang="en-US" sz="1300" dirty="0">
                <a:solidFill>
                  <a:schemeClr val="tx2"/>
                </a:solidFill>
              </a:rPr>
              <a:t>ERP에 설비 가동시간과 특수일 항목을 추가하면 줄일 수 있는 오차다.</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놓친 피크는 저녁과 오후에, 헛경보는 오전·오후 가동 중에 몰린다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2단계 · 놓친 피크(FN)와 헛경보(FP)</a:t>
            </a:r>
            <a:endParaRPr lang="en-US" sz="1200" dirty="0"/>
          </a:p>
        </p:txBody>
      </p:sp>
      <p:pic>
        <p:nvPicPr>
          <p:cNvPr id="5" name="놓친 피크·헛경보 차트" descr="운영상태별 경보 결과(15분 슬롯 수)">    </p:cNvPr>
          <p:cNvPicPr>
            <a:picLocks noChangeAspect="1"/>
          </p:cNvPicPr>
          <p:nvPr/>
        </p:nvPicPr>
        <p:blipFill>
          <a:blip r:embed="rId1"/>
          <a:stretch>
            <a:fillRect/>
          </a:stretch>
        </p:blipFill>
        <p:spPr>
          <a:xfrm>
            <a:off x="548640" y="1463040"/>
            <a:ext cx="6309360" cy="3200400"/>
          </a:xfrm>
          <a:prstGeom prst="rect">
            <a:avLst/>
          </a:prstGeom>
        </p:spPr>
      </p:pic>
      <p:graphicFrame>
        <p:nvGraphicFramePr>
          <p:cNvPr id="21" name="표"/>
          <p:cNvGraphicFramePr>
            <a:graphicFrameLocks noGrp="1"/>
          </p:cNvGraphicFramePr>
          <p:nvPr>
            <p:extLst>
              <p:ext uri="{D42A27DB-BD31-4B8C-83A1-F6EECF244321}">
                <p14:modId xmlns:p14="http://schemas.microsoft.com/office/powerpoint/2010/main" val="1579011935"/>
              </p:ext>
            </p:extLst>
          </p:nvPr>
        </p:nvGraphicFramePr>
        <p:xfrm>
          <a:off x="7086600" y="1508760"/>
          <a:ext cx="4553712" cy="914400"/>
        </p:xfrm>
        <a:graphic>
          <a:graphicData uri="http://schemas.openxmlformats.org/drawingml/2006/table">
            <a:tbl>
              <a:tblPr/>
              <a:tblGrid>
                <a:gridCol w="2651760"/>
                <a:gridCol w="950976"/>
                <a:gridCol w="950976"/>
              </a:tblGrid>
              <a:tr h="384048">
                <a:tc>
                  <a:txBody>
                    <a:bodyPr/>
                    <a:lstStyle/>
                    <a:p>
                      <a:pPr algn="l" indent="0" marL="0">
                        <a:buNone/>
                      </a:pPr>
                      <a:r>
                        <a:rPr lang="en-US" sz="1300" b="1" dirty="0">
                          <a:solidFill>
                            <a:schemeClr val="bg1"/>
                          </a:solidFill>
                        </a:rPr>
                        <a:t>운영상태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정밀도</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재현율</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2"/>
                          </a:solidFill>
                        </a:rPr>
                        <a:t>오전 가동 시작(7~9시)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65%</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91%</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오전 가동 중(9~12시)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58%</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89%</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2"/>
                          </a:solidFill>
                        </a:rPr>
                        <a:t>점심 정지·재개(12~14시)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50%</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90%</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2"/>
                          </a:solidFill>
                        </a:rPr>
                        <a:t>오후 가동 중(14~17시)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46%</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74%</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2"/>
                          </a:solidFill>
                        </a:rPr>
                        <a:t>저녁·야간(17시~)</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27%</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12%</a:t>
                      </a:r>
                      <a:endParaRPr lang="en-US" sz="13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7" name="Text 2"/>
          <p:cNvSpPr txBox="1"/>
          <p:nvPr/>
        </p:nvSpPr>
        <p:spPr>
          <a:xfrm>
            <a:off x="7086600" y="3931920"/>
            <a:ext cx="4553712" cy="365760"/>
          </a:xfrm>
          <a:prstGeom prst="rect">
            <a:avLst/>
          </a:prstGeom>
          <a:noFill/>
          <a:ln/>
        </p:spPr>
        <p:txBody>
          <a:bodyPr wrap="square" lIns="0" tIns="0" rIns="0" bIns="0" rtlCol="0" anchor="t"/>
          <a:lstStyle/>
          <a:p>
            <a:pPr indent="0" marL="0">
              <a:spcAft>
                <a:spcPts val="500"/>
              </a:spcAft>
              <a:buNone/>
            </a:pPr>
            <a:r>
              <a:rPr lang="en-US" sz="1200" dirty="0">
                <a:solidFill>
                  <a:schemeClr val="accent5"/>
                </a:solidFill>
              </a:rPr>
              <a:t>전체: 맞힌 피크 560, 놓친 피크 118, 헛경보 478 (재현율 83%, 정밀도 54%)</a:t>
            </a:r>
            <a:endParaRPr lang="en-US" sz="1200" dirty="0"/>
          </a:p>
        </p:txBody>
      </p:sp>
      <p:sp>
        <p:nvSpPr>
          <p:cNvPr id="8" name="해석 카드"/>
          <p:cNvSpPr/>
          <p:nvPr/>
        </p:nvSpPr>
        <p:spPr>
          <a:xfrm>
            <a:off x="548640" y="4846320"/>
            <a:ext cx="3566160" cy="1417320"/>
          </a:xfrm>
          <a:prstGeom prst="roundRect">
            <a:avLst>
              <a:gd name="adj" fmla="val 5161"/>
            </a:avLst>
          </a:prstGeom>
          <a:solidFill>
            <a:schemeClr val="bg2"/>
          </a:solidFill>
          <a:ln w="12700">
            <a:solidFill>
              <a:schemeClr val="bg2"/>
            </a:solidFill>
            <a:prstDash val="solid"/>
          </a:ln>
        </p:spPr>
      </p:sp>
      <p:sp>
        <p:nvSpPr>
          <p:cNvPr id="9" name="Text 4"/>
          <p:cNvSpPr txBox="1"/>
          <p:nvPr/>
        </p:nvSpPr>
        <p:spPr>
          <a:xfrm>
            <a:off x="749808" y="4965192"/>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accent2"/>
                </a:solidFill>
              </a:rPr>
              <a:t>놓친 피크(FN) 집중 조건</a:t>
            </a:r>
            <a:endParaRPr lang="en-US" sz="1400" dirty="0"/>
          </a:p>
        </p:txBody>
      </p:sp>
      <p:sp>
        <p:nvSpPr>
          <p:cNvPr id="10" name="Text 5"/>
          <p:cNvSpPr txBox="1"/>
          <p:nvPr/>
        </p:nvSpPr>
        <p:spPr>
          <a:xfrm>
            <a:off x="749808" y="5303520"/>
            <a:ext cx="3163824" cy="9144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저녁·야간(재현율 12%)과 오후 가동 중(49건). 기온 26℃ 이상에서 55건으로 가장 많다. 더운 날 오후·저녁 부하를 낮게 본다</a:t>
            </a:r>
            <a:endParaRPr lang="en-US" sz="1200" dirty="0"/>
          </a:p>
        </p:txBody>
      </p:sp>
      <p:sp>
        <p:nvSpPr>
          <p:cNvPr id="11" name="해석 카드"/>
          <p:cNvSpPr/>
          <p:nvPr/>
        </p:nvSpPr>
        <p:spPr>
          <a:xfrm>
            <a:off x="4311396" y="4846320"/>
            <a:ext cx="3566160" cy="1417320"/>
          </a:xfrm>
          <a:prstGeom prst="roundRect">
            <a:avLst>
              <a:gd name="adj" fmla="val 5161"/>
            </a:avLst>
          </a:prstGeom>
          <a:solidFill>
            <a:schemeClr val="bg2"/>
          </a:solidFill>
          <a:ln w="12700">
            <a:solidFill>
              <a:schemeClr val="bg2"/>
            </a:solidFill>
            <a:prstDash val="solid"/>
          </a:ln>
        </p:spPr>
      </p:sp>
      <p:sp>
        <p:nvSpPr>
          <p:cNvPr id="12" name="Text 7"/>
          <p:cNvSpPr txBox="1"/>
          <p:nvPr/>
        </p:nvSpPr>
        <p:spPr>
          <a:xfrm>
            <a:off x="4512564" y="4965192"/>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헛경보(FP) 집중 조건</a:t>
            </a:r>
            <a:endParaRPr lang="en-US" sz="1400" dirty="0"/>
          </a:p>
        </p:txBody>
      </p:sp>
      <p:sp>
        <p:nvSpPr>
          <p:cNvPr id="13" name="Text 8"/>
          <p:cNvSpPr txBox="1"/>
          <p:nvPr/>
        </p:nvSpPr>
        <p:spPr>
          <a:xfrm>
            <a:off x="4512564" y="5303520"/>
            <a:ext cx="3163824" cy="9144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오전 가동 중(193건)과 오후 가동 중(168건, 정밀도 46%). 22~26℃에서 271건. 기준을 170 kW로 낮춘 대가다</a:t>
            </a:r>
            <a:endParaRPr lang="en-US" sz="1200" dirty="0"/>
          </a:p>
        </p:txBody>
      </p:sp>
      <p:sp>
        <p:nvSpPr>
          <p:cNvPr id="14" name="해석 카드"/>
          <p:cNvSpPr/>
          <p:nvPr/>
        </p:nvSpPr>
        <p:spPr>
          <a:xfrm>
            <a:off x="8074152" y="4846320"/>
            <a:ext cx="3566160" cy="1417320"/>
          </a:xfrm>
          <a:prstGeom prst="roundRect">
            <a:avLst>
              <a:gd name="adj" fmla="val 5161"/>
            </a:avLst>
          </a:prstGeom>
          <a:solidFill>
            <a:schemeClr val="bg2"/>
          </a:solidFill>
          <a:ln w="12700">
            <a:solidFill>
              <a:schemeClr val="bg2"/>
            </a:solidFill>
            <a:prstDash val="solid"/>
          </a:ln>
        </p:spPr>
      </p:sp>
      <p:sp>
        <p:nvSpPr>
          <p:cNvPr id="15" name="Text 10"/>
          <p:cNvSpPr txBox="1"/>
          <p:nvPr/>
        </p:nvSpPr>
        <p:spPr>
          <a:xfrm>
            <a:off x="8275320" y="4965192"/>
            <a:ext cx="3163824"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개선 방향</a:t>
            </a:r>
            <a:endParaRPr lang="en-US" sz="1400" dirty="0"/>
          </a:p>
        </p:txBody>
      </p:sp>
      <p:sp>
        <p:nvSpPr>
          <p:cNvPr id="16" name="Text 11"/>
          <p:cNvSpPr txBox="1"/>
          <p:nvPr/>
        </p:nvSpPr>
        <p:spPr>
          <a:xfrm>
            <a:off x="8275320" y="5303520"/>
            <a:ext cx="3163824" cy="9144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저녁 잔업 계획과 점심 정지 여부를 생산계획에 넣으면 저녁의 놓친 피크와 가동 중 헛경보를 줄일 수 있다</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단계 번호"/>
          <p:cNvSpPr/>
          <p:nvPr/>
        </p:nvSpPr>
        <p:spPr>
          <a:xfrm>
            <a:off x="822960" y="2423160"/>
            <a:ext cx="1188720" cy="1188720"/>
          </a:xfrm>
          <a:prstGeom prst="ellipse">
            <a:avLst/>
          </a:prstGeom>
          <a:solidFill>
            <a:schemeClr val="accent1"/>
          </a:solidFill>
          <a:ln w="12700">
            <a:solidFill>
              <a:schemeClr val="accent1"/>
            </a:solidFill>
            <a:prstDash val="solid"/>
          </a:ln>
        </p:spPr>
      </p:sp>
      <p:sp>
        <p:nvSpPr>
          <p:cNvPr id="3" name="Text 1"/>
          <p:cNvSpPr txBox="1"/>
          <p:nvPr/>
        </p:nvSpPr>
        <p:spPr>
          <a:xfrm>
            <a:off x="822960" y="2423160"/>
            <a:ext cx="1188720" cy="1188720"/>
          </a:xfrm>
          <a:prstGeom prst="rect">
            <a:avLst/>
          </a:prstGeom>
          <a:noFill/>
          <a:ln/>
        </p:spPr>
        <p:txBody>
          <a:bodyPr wrap="square" lIns="0" tIns="0" rIns="0" bIns="0" rtlCol="0" anchor="ctr"/>
          <a:lstStyle/>
          <a:p>
            <a:pPr algn="ctr" indent="0" marL="0">
              <a:buNone/>
            </a:pPr>
            <a:r>
              <a:rPr lang="en-US" sz="3400" b="1" dirty="0">
                <a:solidFill>
                  <a:schemeClr val="tx1"/>
                </a:solidFill>
              </a:rPr>
              <a:t>3-5</a:t>
            </a:r>
            <a:endParaRPr lang="en-US" sz="3400" dirty="0"/>
          </a:p>
        </p:txBody>
      </p:sp>
      <p:sp>
        <p:nvSpPr>
          <p:cNvPr id="4" name="Text 0"/>
          <p:cNvSpPr/>
          <p:nvPr>
            <p:ph idx="100" type="title" hasCustomPrompt="1"/>
          </p:nvPr>
        </p:nvSpPr>
        <p:spPr>
          <a:xfrm>
            <a:off x="2377440" y="2468880"/>
            <a:ext cx="8961120" cy="1005840"/>
          </a:xfrm>
          <a:prstGeom prst="rect">
            <a:avLst/>
          </a:prstGeom>
          <a:noFill/>
          <a:ln/>
        </p:spPr>
        <p:txBody>
          <a:bodyPr wrap="square" lIns="0" tIns="0" rIns="0" bIns="0" rtlCol="0" anchor="t"/>
          <a:lstStyle/>
          <a:p>
            <a:pPr algn="l" indent="0" marL="0">
              <a:buNone/>
            </a:pPr>
            <a:r>
              <a:rPr lang="en-US" sz="3800" b="1" dirty="0">
                <a:solidFill>
                  <a:schemeClr val="bg1"/>
                </a:solidFill>
              </a:rPr>
              <a:t>피크 추출, 두 유형, 발생조건</a:t>
            </a:r>
            <a:endParaRPr lang="en-US" sz="3800" dirty="0"/>
          </a:p>
        </p:txBody>
      </p:sp>
      <p:sp>
        <p:nvSpPr>
          <p:cNvPr id="5" name="Text 0"/>
          <p:cNvSpPr/>
          <p:nvPr>
            <p:ph idx="101" type="body" hasCustomPrompt="1"/>
          </p:nvPr>
        </p:nvSpPr>
        <p:spPr>
          <a:xfrm>
            <a:off x="2377440" y="3611880"/>
            <a:ext cx="8961120" cy="1463040"/>
          </a:xfrm>
          <a:prstGeom prst="rect">
            <a:avLst/>
          </a:prstGeom>
          <a:noFill/>
          <a:ln/>
        </p:spPr>
        <p:txBody>
          <a:bodyPr wrap="square" lIns="0" tIns="0" rIns="0" bIns="0" rtlCol="0" anchor="t"/>
          <a:lstStyle/>
          <a:p>
            <a:pPr indent="0" marL="0">
              <a:buNone/>
            </a:pPr>
            <a:r>
              <a:rPr lang="en-US" sz="1700" dirty="0">
                <a:solidFill>
                  <a:schemeClr val="accent6"/>
                </a:solidFill>
              </a:rPr>
              <a:t>실제 피크 구간을 뽑고, 상승폭·지속시간·전후 패턴으로 두 유형을 구분한 뒤, 유형별 발생조건을 비교</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180 kW 이상이 이어지는 구간 426개를 실제 피크로 뽑았다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3단계 · 실제 피크 추출</a:t>
            </a:r>
            <a:endParaRPr lang="en-US" sz="1200" dirty="0"/>
          </a:p>
        </p:txBody>
      </p:sp>
      <p:pic>
        <p:nvPicPr>
          <p:cNvPr id="5" name="피크 구간 추출 예시와 기준값별 구간 수" descr="피크 구간 추출 예시와 기준값별 구간 수">    </p:cNvPr>
          <p:cNvPicPr>
            <a:picLocks noChangeAspect="1"/>
          </p:cNvPicPr>
          <p:nvPr/>
        </p:nvPicPr>
        <p:blipFill>
          <a:blip r:embed="rId1"/>
          <a:stretch>
            <a:fillRect/>
          </a:stretch>
        </p:blipFill>
        <p:spPr>
          <a:xfrm>
            <a:off x="1101544" y="1417320"/>
            <a:ext cx="9985863" cy="3017520"/>
          </a:xfrm>
          <a:prstGeom prst="rect">
            <a:avLst/>
          </a:prstGeom>
        </p:spPr>
      </p:pic>
      <p:sp>
        <p:nvSpPr>
          <p:cNvPr id="6" name="수치 카드"/>
          <p:cNvSpPr/>
          <p:nvPr/>
        </p:nvSpPr>
        <p:spPr>
          <a:xfrm>
            <a:off x="548640" y="4663440"/>
            <a:ext cx="2651760" cy="1325880"/>
          </a:xfrm>
          <a:prstGeom prst="roundRect">
            <a:avLst>
              <a:gd name="adj" fmla="val 5517"/>
            </a:avLst>
          </a:prstGeom>
          <a:solidFill>
            <a:schemeClr val="bg2"/>
          </a:solidFill>
          <a:ln w="12700">
            <a:solidFill>
              <a:schemeClr val="bg2"/>
            </a:solidFill>
            <a:prstDash val="solid"/>
          </a:ln>
        </p:spPr>
      </p:sp>
      <p:sp>
        <p:nvSpPr>
          <p:cNvPr id="7" name="Text 3"/>
          <p:cNvSpPr txBox="1"/>
          <p:nvPr/>
        </p:nvSpPr>
        <p:spPr>
          <a:xfrm>
            <a:off x="731520" y="4791456"/>
            <a:ext cx="2286000" cy="685800"/>
          </a:xfrm>
          <a:prstGeom prst="rect">
            <a:avLst/>
          </a:prstGeom>
          <a:noFill/>
          <a:ln/>
        </p:spPr>
        <p:txBody>
          <a:bodyPr wrap="square" lIns="0" tIns="0" rIns="0" bIns="0" rtlCol="0" anchor="ctr"/>
          <a:lstStyle/>
          <a:p>
            <a:pPr indent="0" marL="0">
              <a:spcAft>
                <a:spcPts val="500"/>
              </a:spcAft>
              <a:buNone/>
            </a:pPr>
            <a:r>
              <a:rPr lang="en-US" sz="3200" b="1" dirty="0">
                <a:solidFill>
                  <a:schemeClr val="accent2"/>
                </a:solidFill>
              </a:rPr>
              <a:t>180 kW</a:t>
            </a:r>
            <a:endParaRPr lang="en-US" sz="3200" dirty="0"/>
          </a:p>
        </p:txBody>
      </p:sp>
      <p:sp>
        <p:nvSpPr>
          <p:cNvPr id="8" name="Text 4"/>
          <p:cNvSpPr txBox="1"/>
          <p:nvPr/>
        </p:nvSpPr>
        <p:spPr>
          <a:xfrm>
            <a:off x="731520" y="548640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기준. 이 값 이상 슬롯이</a:t>
            </a:r>
            <a:endParaRPr lang="en-US" sz="1200" dirty="0"/>
          </a:p>
          <a:p>
            <a:pPr indent="0" marL="0">
              <a:spcAft>
                <a:spcPts val="500"/>
              </a:spcAft>
              <a:buNone/>
            </a:pPr>
            <a:r>
              <a:rPr lang="en-US" sz="1200" dirty="0">
                <a:solidFill>
                  <a:schemeClr val="tx2"/>
                </a:solidFill>
              </a:rPr>
              <a:t>전체의 5.0%(상위 5%)</a:t>
            </a:r>
            <a:endParaRPr lang="en-US" sz="1200" dirty="0"/>
          </a:p>
        </p:txBody>
      </p:sp>
      <p:sp>
        <p:nvSpPr>
          <p:cNvPr id="9" name="수치 카드"/>
          <p:cNvSpPr/>
          <p:nvPr/>
        </p:nvSpPr>
        <p:spPr>
          <a:xfrm>
            <a:off x="3355848" y="4663440"/>
            <a:ext cx="2651760" cy="1325880"/>
          </a:xfrm>
          <a:prstGeom prst="roundRect">
            <a:avLst>
              <a:gd name="adj" fmla="val 5517"/>
            </a:avLst>
          </a:prstGeom>
          <a:solidFill>
            <a:schemeClr val="bg2"/>
          </a:solidFill>
          <a:ln w="12700">
            <a:solidFill>
              <a:schemeClr val="bg2"/>
            </a:solidFill>
            <a:prstDash val="solid"/>
          </a:ln>
        </p:spPr>
      </p:sp>
      <p:sp>
        <p:nvSpPr>
          <p:cNvPr id="10" name="Text 6"/>
          <p:cNvSpPr txBox="1"/>
          <p:nvPr/>
        </p:nvSpPr>
        <p:spPr>
          <a:xfrm>
            <a:off x="3538728" y="4791456"/>
            <a:ext cx="2286000" cy="685800"/>
          </a:xfrm>
          <a:prstGeom prst="rect">
            <a:avLst/>
          </a:prstGeom>
          <a:noFill/>
          <a:ln/>
        </p:spPr>
        <p:txBody>
          <a:bodyPr wrap="square" lIns="0" tIns="0" rIns="0" bIns="0" rtlCol="0" anchor="ctr"/>
          <a:lstStyle/>
          <a:p>
            <a:pPr indent="0" marL="0">
              <a:spcAft>
                <a:spcPts val="500"/>
              </a:spcAft>
              <a:buNone/>
            </a:pPr>
            <a:r>
              <a:rPr lang="en-US" sz="3200" b="1" dirty="0">
                <a:solidFill>
                  <a:schemeClr val="tx1"/>
                </a:solidFill>
              </a:rPr>
              <a:t>426개</a:t>
            </a:r>
            <a:endParaRPr lang="en-US" sz="3200" dirty="0"/>
          </a:p>
        </p:txBody>
      </p:sp>
      <p:sp>
        <p:nvSpPr>
          <p:cNvPr id="11" name="Text 7"/>
          <p:cNvSpPr txBox="1"/>
          <p:nvPr/>
        </p:nvSpPr>
        <p:spPr>
          <a:xfrm>
            <a:off x="3538728" y="548640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전체 피크 구간</a:t>
            </a:r>
            <a:endParaRPr lang="en-US" sz="1200" dirty="0"/>
          </a:p>
          <a:p>
            <a:pPr indent="0" marL="0">
              <a:spcAft>
                <a:spcPts val="500"/>
              </a:spcAft>
              <a:buNone/>
            </a:pPr>
            <a:r>
              <a:rPr lang="en-US" sz="1200" dirty="0">
                <a:solidFill>
                  <a:schemeClr val="tx2"/>
                </a:solidFill>
              </a:rPr>
              <a:t>(15분 한 칸 끊김은 이어 붙임)</a:t>
            </a:r>
            <a:endParaRPr lang="en-US" sz="1200" dirty="0"/>
          </a:p>
        </p:txBody>
      </p:sp>
      <p:sp>
        <p:nvSpPr>
          <p:cNvPr id="12" name="수치 카드"/>
          <p:cNvSpPr/>
          <p:nvPr/>
        </p:nvSpPr>
        <p:spPr>
          <a:xfrm>
            <a:off x="6163056" y="4663440"/>
            <a:ext cx="2651760" cy="1325880"/>
          </a:xfrm>
          <a:prstGeom prst="roundRect">
            <a:avLst>
              <a:gd name="adj" fmla="val 5517"/>
            </a:avLst>
          </a:prstGeom>
          <a:solidFill>
            <a:schemeClr val="bg2"/>
          </a:solidFill>
          <a:ln w="12700">
            <a:solidFill>
              <a:schemeClr val="bg2"/>
            </a:solidFill>
            <a:prstDash val="solid"/>
          </a:ln>
        </p:spPr>
      </p:sp>
      <p:sp>
        <p:nvSpPr>
          <p:cNvPr id="13" name="Text 9"/>
          <p:cNvSpPr txBox="1"/>
          <p:nvPr/>
        </p:nvSpPr>
        <p:spPr>
          <a:xfrm>
            <a:off x="6345936" y="4791456"/>
            <a:ext cx="2286000" cy="685800"/>
          </a:xfrm>
          <a:prstGeom prst="rect">
            <a:avLst/>
          </a:prstGeom>
          <a:noFill/>
          <a:ln/>
        </p:spPr>
        <p:txBody>
          <a:bodyPr wrap="square" lIns="0" tIns="0" rIns="0" bIns="0" rtlCol="0" anchor="ctr"/>
          <a:lstStyle/>
          <a:p>
            <a:pPr indent="0" marL="0">
              <a:spcAft>
                <a:spcPts val="500"/>
              </a:spcAft>
              <a:buNone/>
            </a:pPr>
            <a:r>
              <a:rPr lang="en-US" sz="2300" b="1" dirty="0">
                <a:solidFill>
                  <a:schemeClr val="tx1"/>
                </a:solidFill>
              </a:rPr>
              <a:t>267개 / 78일</a:t>
            </a:r>
            <a:endParaRPr lang="en-US" sz="2300" dirty="0"/>
          </a:p>
        </p:txBody>
      </p:sp>
      <p:sp>
        <p:nvSpPr>
          <p:cNvPr id="14" name="Text 10"/>
          <p:cNvSpPr txBox="1"/>
          <p:nvPr/>
        </p:nvSpPr>
        <p:spPr>
          <a:xfrm>
            <a:off x="6345936" y="548640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복사일을 한 번만 셌을 때</a:t>
            </a:r>
            <a:endParaRPr lang="en-US" sz="1200" dirty="0"/>
          </a:p>
          <a:p>
            <a:pPr indent="0" marL="0">
              <a:spcAft>
                <a:spcPts val="500"/>
              </a:spcAft>
              <a:buNone/>
            </a:pPr>
            <a:r>
              <a:rPr lang="en-US" sz="1200" dirty="0">
                <a:solidFill>
                  <a:schemeClr val="tx2"/>
                </a:solidFill>
              </a:rPr>
              <a:t>(유형 구분에 사용)</a:t>
            </a:r>
            <a:endParaRPr lang="en-US" sz="1200" dirty="0"/>
          </a:p>
        </p:txBody>
      </p:sp>
      <p:sp>
        <p:nvSpPr>
          <p:cNvPr id="15" name="수치 카드"/>
          <p:cNvSpPr/>
          <p:nvPr/>
        </p:nvSpPr>
        <p:spPr>
          <a:xfrm>
            <a:off x="8970264" y="4663440"/>
            <a:ext cx="2651760" cy="1325880"/>
          </a:xfrm>
          <a:prstGeom prst="roundRect">
            <a:avLst>
              <a:gd name="adj" fmla="val 5517"/>
            </a:avLst>
          </a:prstGeom>
          <a:solidFill>
            <a:schemeClr val="bg2"/>
          </a:solidFill>
          <a:ln w="12700">
            <a:solidFill>
              <a:schemeClr val="bg2"/>
            </a:solidFill>
            <a:prstDash val="solid"/>
          </a:ln>
        </p:spPr>
      </p:sp>
      <p:sp>
        <p:nvSpPr>
          <p:cNvPr id="16" name="Text 12"/>
          <p:cNvSpPr txBox="1"/>
          <p:nvPr/>
        </p:nvSpPr>
        <p:spPr>
          <a:xfrm>
            <a:off x="9153144" y="4791456"/>
            <a:ext cx="2286000" cy="685800"/>
          </a:xfrm>
          <a:prstGeom prst="rect">
            <a:avLst/>
          </a:prstGeom>
          <a:noFill/>
          <a:ln/>
        </p:spPr>
        <p:txBody>
          <a:bodyPr wrap="square" lIns="0" tIns="0" rIns="0" bIns="0" rtlCol="0" anchor="ctr"/>
          <a:lstStyle/>
          <a:p>
            <a:pPr indent="0" marL="0">
              <a:spcAft>
                <a:spcPts val="500"/>
              </a:spcAft>
              <a:buNone/>
            </a:pPr>
            <a:r>
              <a:rPr lang="en-US" sz="2800" b="1" dirty="0">
                <a:solidFill>
                  <a:schemeClr val="tx1"/>
                </a:solidFill>
              </a:rPr>
              <a:t>46 / 47일</a:t>
            </a:r>
            <a:endParaRPr lang="en-US" sz="2800" dirty="0"/>
          </a:p>
        </p:txBody>
      </p:sp>
      <p:sp>
        <p:nvSpPr>
          <p:cNvPr id="17" name="Text 13"/>
          <p:cNvSpPr txBox="1"/>
          <p:nvPr/>
        </p:nvSpPr>
        <p:spPr>
          <a:xfrm>
            <a:off x="9153144" y="5486400"/>
            <a:ext cx="2286000" cy="4114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7~9월 정상 가동일 중</a:t>
            </a:r>
            <a:endParaRPr lang="en-US" sz="1200" dirty="0"/>
          </a:p>
          <a:p>
            <a:pPr indent="0" marL="0">
              <a:spcAft>
                <a:spcPts val="500"/>
              </a:spcAft>
              <a:buNone/>
            </a:pPr>
            <a:r>
              <a:rPr lang="en-US" sz="1200" dirty="0">
                <a:solidFill>
                  <a:schemeClr val="tx2"/>
                </a:solidFill>
              </a:rPr>
              <a:t>피크 구간이 있는 날</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피크는 상승폭과 지속시간이 뚜렷이 다른 두 유형으로 나뉜다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4단계 · 피크 두 유형 구분</a:t>
            </a:r>
            <a:endParaRPr lang="en-US" sz="1200" dirty="0"/>
          </a:p>
        </p:txBody>
      </p:sp>
      <p:pic>
        <p:nvPicPr>
          <p:cNvPr id="5" name="피크 두 유형: 상승폭과 직전 부하, 전후 평균 부하, 지속시간" descr="피크 두 유형: 상승폭과 직전 부하, 전후 평균 부하, 지속시간">    </p:cNvPr>
          <p:cNvPicPr>
            <a:picLocks noChangeAspect="1"/>
          </p:cNvPicPr>
          <p:nvPr/>
        </p:nvPicPr>
        <p:blipFill>
          <a:blip r:embed="rId1"/>
          <a:stretch>
            <a:fillRect/>
          </a:stretch>
        </p:blipFill>
        <p:spPr>
          <a:xfrm>
            <a:off x="1190901" y="1417320"/>
            <a:ext cx="9807149" cy="2697480"/>
          </a:xfrm>
          <a:prstGeom prst="rect">
            <a:avLst/>
          </a:prstGeom>
        </p:spPr>
      </p:pic>
      <p:graphicFrame>
        <p:nvGraphicFramePr>
          <p:cNvPr id="24" name="표"/>
          <p:cNvGraphicFramePr>
            <a:graphicFrameLocks noGrp="1"/>
          </p:cNvGraphicFramePr>
          <p:nvPr>
            <p:extLst>
              <p:ext uri="{D42A27DB-BD31-4B8C-83A1-F6EECF244321}">
                <p14:modId xmlns:p14="http://schemas.microsoft.com/office/powerpoint/2010/main" val="1579011935"/>
              </p:ext>
            </p:extLst>
          </p:nvPr>
        </p:nvGraphicFramePr>
        <p:xfrm>
          <a:off x="548640" y="4251960"/>
          <a:ext cx="7223760" cy="914400"/>
        </p:xfrm>
        <a:graphic>
          <a:graphicData uri="http://schemas.openxmlformats.org/drawingml/2006/table">
            <a:tbl>
              <a:tblPr/>
              <a:tblGrid>
                <a:gridCol w="2103120"/>
                <a:gridCol w="2651760"/>
                <a:gridCol w="2468880"/>
              </a:tblGrid>
              <a:tr h="338328">
                <a:tc>
                  <a:txBody>
                    <a:bodyPr/>
                    <a:lstStyle/>
                    <a:p>
                      <a:pPr algn="l" indent="0" marL="0">
                        <a:buNone/>
                      </a:pPr>
                      <a:r>
                        <a:rPr lang="en-US" sz="1200" b="1" dirty="0">
                          <a:solidFill>
                            <a:schemeClr val="bg1"/>
                          </a:solidFill>
                        </a:rPr>
                        <a:t>특성(중앙값)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유형1: 시작·재개 직후 크게 오르는 피크</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유형2: 가동 중 잠깐 더 오르는 피크</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38328">
                <a:tc>
                  <a:txBody>
                    <a:bodyPr/>
                    <a:lstStyle/>
                    <a:p>
                      <a:pPr indent="0" marL="0">
                        <a:buNone/>
                      </a:pPr>
                      <a:r>
                        <a:rPr lang="en-US" sz="1200" dirty="0">
                          <a:solidFill>
                            <a:schemeClr val="tx2"/>
                          </a:solidFill>
                        </a:rPr>
                        <a:t>구간 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86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181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38328">
                <a:tc>
                  <a:txBody>
                    <a:bodyPr/>
                    <a:lstStyle/>
                    <a:p>
                      <a:pPr indent="0" marL="0">
                        <a:buNone/>
                      </a:pPr>
                      <a:r>
                        <a:rPr lang="en-US" sz="1200" dirty="0">
                          <a:solidFill>
                            <a:schemeClr val="tx2"/>
                          </a:solidFill>
                        </a:rPr>
                        <a:t>직전 1시간 평균 부하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128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168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38328">
                <a:tc>
                  <a:txBody>
                    <a:bodyPr/>
                    <a:lstStyle/>
                    <a:p>
                      <a:pPr indent="0" marL="0">
                        <a:buNone/>
                      </a:pPr>
                      <a:r>
                        <a:rPr lang="en-US" sz="1200" dirty="0">
                          <a:solidFill>
                            <a:schemeClr val="tx2"/>
                          </a:solidFill>
                        </a:rPr>
                        <a:t>상승폭</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64.5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19.3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38328">
                <a:tc>
                  <a:txBody>
                    <a:bodyPr/>
                    <a:lstStyle/>
                    <a:p>
                      <a:pPr indent="0" marL="0">
                        <a:buNone/>
                      </a:pPr>
                      <a:r>
                        <a:rPr lang="en-US" sz="1200" dirty="0">
                          <a:solidFill>
                            <a:schemeClr val="tx2"/>
                          </a:solidFill>
                        </a:rPr>
                        <a:t>지속시간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90분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30분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38328">
                <a:tc>
                  <a:txBody>
                    <a:bodyPr/>
                    <a:lstStyle/>
                    <a:p>
                      <a:pPr indent="0" marL="0">
                        <a:buNone/>
                      </a:pPr>
                      <a:r>
                        <a:rPr lang="en-US" sz="1200" dirty="0">
                          <a:solidFill>
                            <a:schemeClr val="tx2"/>
                          </a:solidFill>
                        </a:rPr>
                        <a:t>최대값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194.5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185.0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7" name="근거 카드"/>
          <p:cNvSpPr/>
          <p:nvPr/>
        </p:nvSpPr>
        <p:spPr>
          <a:xfrm>
            <a:off x="8001000" y="4251960"/>
            <a:ext cx="3639312" cy="2029968"/>
          </a:xfrm>
          <a:prstGeom prst="roundRect">
            <a:avLst>
              <a:gd name="adj" fmla="val 3604"/>
            </a:avLst>
          </a:prstGeom>
          <a:solidFill>
            <a:schemeClr val="bg2"/>
          </a:solidFill>
          <a:ln w="12700">
            <a:solidFill>
              <a:schemeClr val="bg2"/>
            </a:solidFill>
            <a:prstDash val="solid"/>
          </a:ln>
        </p:spPr>
      </p:sp>
      <p:sp>
        <p:nvSpPr>
          <p:cNvPr id="8" name="Text 3"/>
          <p:cNvSpPr txBox="1"/>
          <p:nvPr/>
        </p:nvSpPr>
        <p:spPr>
          <a:xfrm>
            <a:off x="8183880" y="4370832"/>
            <a:ext cx="3291840"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구분의 근거</a:t>
            </a:r>
            <a:endParaRPr lang="en-US" sz="1400" dirty="0"/>
          </a:p>
        </p:txBody>
      </p:sp>
      <p:sp>
        <p:nvSpPr>
          <p:cNvPr id="9" name="Text 4"/>
          <p:cNvSpPr txBox="1"/>
          <p:nvPr/>
        </p:nvSpPr>
        <p:spPr>
          <a:xfrm>
            <a:off x="8183880" y="4709160"/>
            <a:ext cx="3291840" cy="15087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chemeClr val="tx2"/>
                </a:solidFill>
              </a:rPr>
              <a:t>K-means, 고유한 날의 267개 구간으로 학습</a:t>
            </a:r>
            <a:endParaRPr lang="en-US" sz="1200" dirty="0"/>
          </a:p>
          <a:p>
            <a:pPr marL="342900" indent="-342900">
              <a:spcAft>
                <a:spcPts val="700"/>
              </a:spcAft>
              <a:buSzPct val="100000"/>
              <a:buChar char="•"/>
            </a:pPr>
            <a:r>
              <a:rPr lang="en-US" sz="1200" dirty="0">
                <a:solidFill>
                  <a:schemeClr val="tx2"/>
                </a:solidFill>
              </a:rPr>
              <a:t>묶음 수 2개일 때 실루엣 0.51로 최고(3개 0.42)</a:t>
            </a:r>
            <a:endParaRPr lang="en-US" sz="1200" dirty="0"/>
          </a:p>
          <a:p>
            <a:pPr marL="342900" indent="-342900">
              <a:spcAft>
                <a:spcPts val="700"/>
              </a:spcAft>
              <a:buSzPct val="100000"/>
              <a:buChar char="•"/>
            </a:pPr>
            <a:r>
              <a:rPr lang="en-US" sz="1200" dirty="0">
                <a:solidFill>
                  <a:schemeClr val="tx2"/>
                </a:solidFill>
              </a:rPr>
              <a:t>6개 특성 모두 순위합 검정 p &lt; 0.001</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유형1은 설비가 한꺼번에 켜질 때, 유형2는 생산이 많을 때 생긴다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5단계 · 유형별 발생조건</a:t>
            </a:r>
            <a:endParaRPr lang="en-US" sz="1200" dirty="0"/>
          </a:p>
        </p:txBody>
      </p:sp>
      <p:pic>
        <p:nvPicPr>
          <p:cNvPr id="5" name="유형별 시작 시각, 생산계획 변화, 기온별 발생 빈도" descr="유형별 시작 시각, 생산계획 변화, 기온별 발생 빈도">    </p:cNvPr>
          <p:cNvPicPr>
            <a:picLocks noChangeAspect="1"/>
          </p:cNvPicPr>
          <p:nvPr/>
        </p:nvPicPr>
        <p:blipFill>
          <a:blip r:embed="rId1"/>
          <a:stretch>
            <a:fillRect/>
          </a:stretch>
        </p:blipFill>
        <p:spPr>
          <a:xfrm>
            <a:off x="1934305" y="1417320"/>
            <a:ext cx="8320342" cy="2286000"/>
          </a:xfrm>
          <a:prstGeom prst="rect">
            <a:avLst/>
          </a:prstGeom>
        </p:spPr>
      </p:pic>
      <p:graphicFrame>
        <p:nvGraphicFramePr>
          <p:cNvPr id="25" name="표"/>
          <p:cNvGraphicFramePr>
            <a:graphicFrameLocks noGrp="1"/>
          </p:cNvGraphicFramePr>
          <p:nvPr>
            <p:extLst>
              <p:ext uri="{D42A27DB-BD31-4B8C-83A1-F6EECF244321}">
                <p14:modId xmlns:p14="http://schemas.microsoft.com/office/powerpoint/2010/main" val="1579011935"/>
              </p:ext>
            </p:extLst>
          </p:nvPr>
        </p:nvGraphicFramePr>
        <p:xfrm>
          <a:off x="548640" y="3840480"/>
          <a:ext cx="7498080" cy="914400"/>
        </p:xfrm>
        <a:graphic>
          <a:graphicData uri="http://schemas.openxmlformats.org/drawingml/2006/table">
            <a:tbl>
              <a:tblPr/>
              <a:tblGrid>
                <a:gridCol w="2286000"/>
                <a:gridCol w="2926080"/>
                <a:gridCol w="2286000"/>
              </a:tblGrid>
              <a:tr h="365760">
                <a:tc>
                  <a:txBody>
                    <a:bodyPr/>
                    <a:lstStyle/>
                    <a:p>
                      <a:pPr algn="l" indent="0" marL="0">
                        <a:buNone/>
                      </a:pPr>
                      <a:r>
                        <a:rPr lang="en-US" sz="1200" b="1" dirty="0">
                          <a:solidFill>
                            <a:schemeClr val="bg1"/>
                          </a:solidFill>
                        </a:rPr>
                        <a:t>조건</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유형1(시작·재개 직후)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유형2(가동 중)</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65760">
                <a:tc>
                  <a:txBody>
                    <a:bodyPr/>
                    <a:lstStyle/>
                    <a:p>
                      <a:pPr indent="0" marL="0">
                        <a:buNone/>
                      </a:pPr>
                      <a:r>
                        <a:rPr lang="en-US" sz="1200" dirty="0">
                          <a:solidFill>
                            <a:schemeClr val="tx2"/>
                          </a:solidFill>
                        </a:rPr>
                        <a:t>시작 시각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8시대 43건, 13시대 41건(전체의 98%)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9~11시 68건, 14~16시 68건</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65760">
                <a:tc>
                  <a:txBody>
                    <a:bodyPr/>
                    <a:lstStyle/>
                    <a:p>
                      <a:pPr indent="0" marL="0">
                        <a:buNone/>
                      </a:pPr>
                      <a:r>
                        <a:rPr lang="en-US" sz="1200" dirty="0">
                          <a:solidFill>
                            <a:schemeClr val="tx2"/>
                          </a:solidFill>
                        </a:rPr>
                        <a:t>직전 시간 생산계획(중앙값)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198개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946개 (p &lt; 0.001)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65760">
                <a:tc>
                  <a:txBody>
                    <a:bodyPr/>
                    <a:lstStyle/>
                    <a:p>
                      <a:pPr indent="0" marL="0">
                        <a:buNone/>
                      </a:pPr>
                      <a:r>
                        <a:rPr lang="en-US" sz="1200" dirty="0">
                          <a:solidFill>
                            <a:schemeClr val="tx2"/>
                          </a:solidFill>
                        </a:rPr>
                        <a:t>생산계획 변화(중앙값)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시간당 +359개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0개 (p = 0.006)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65760">
                <a:tc>
                  <a:txBody>
                    <a:bodyPr/>
                    <a:lstStyle/>
                    <a:p>
                      <a:pPr indent="0" marL="0">
                        <a:buNone/>
                      </a:pPr>
                      <a:r>
                        <a:rPr lang="en-US" sz="1200" dirty="0">
                          <a:solidFill>
                            <a:schemeClr val="tx2"/>
                          </a:solidFill>
                        </a:rPr>
                        <a:t>재가동일 발생일 비율</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72% (일반 가동일 56%)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72% (일반 가동일 75%)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65760">
                <a:tc>
                  <a:txBody>
                    <a:bodyPr/>
                    <a:lstStyle/>
                    <a:p>
                      <a:pPr indent="0" marL="0">
                        <a:buNone/>
                      </a:pPr>
                      <a:r>
                        <a:rPr lang="en-US" sz="1200" dirty="0">
                          <a:solidFill>
                            <a:schemeClr val="tx2"/>
                          </a:solidFill>
                        </a:rPr>
                        <a:t>일 최고 27℃ 이상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1.62개/일 (20℃ 미만 0.66개)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2.42개/일 (20℃ 미만 1.55개)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7" name="해석 카드"/>
          <p:cNvSpPr/>
          <p:nvPr/>
        </p:nvSpPr>
        <p:spPr>
          <a:xfrm>
            <a:off x="8275320" y="3840480"/>
            <a:ext cx="3364992" cy="2377440"/>
          </a:xfrm>
          <a:prstGeom prst="roundRect">
            <a:avLst>
              <a:gd name="adj" fmla="val 3077"/>
            </a:avLst>
          </a:prstGeom>
          <a:solidFill>
            <a:schemeClr val="bg2"/>
          </a:solidFill>
          <a:ln w="12700">
            <a:solidFill>
              <a:schemeClr val="bg2"/>
            </a:solidFill>
            <a:prstDash val="solid"/>
          </a:ln>
        </p:spPr>
      </p:sp>
      <p:sp>
        <p:nvSpPr>
          <p:cNvPr id="8" name="Text 3"/>
          <p:cNvSpPr txBox="1"/>
          <p:nvPr/>
        </p:nvSpPr>
        <p:spPr>
          <a:xfrm>
            <a:off x="8458200" y="4005072"/>
            <a:ext cx="3017520" cy="2103120"/>
          </a:xfrm>
          <a:prstGeom prst="rect">
            <a:avLst/>
          </a:prstGeom>
          <a:noFill/>
          <a:ln/>
        </p:spPr>
        <p:txBody>
          <a:bodyPr wrap="square" lIns="0" tIns="0" rIns="0" bIns="0" rtlCol="0" anchor="t"/>
          <a:lstStyle/>
          <a:p>
            <a:pPr marL="342900" indent="-342900">
              <a:spcAft>
                <a:spcPts val="700"/>
              </a:spcAft>
              <a:buSzPct val="100000"/>
              <a:buChar char="•"/>
            </a:pPr>
            <a:r>
              <a:rPr lang="en-US" sz="1300" b="1" dirty="0">
                <a:solidFill>
                  <a:schemeClr val="tx1"/>
                </a:solidFill>
              </a:rPr>
              <a:t>유형1: </a:t>
            </a:r>
            <a:pPr indent="0" marL="0">
              <a:spcAft>
                <a:spcPts val="700"/>
              </a:spcAft>
              <a:buNone/>
            </a:pPr>
            <a:r>
              <a:rPr lang="en-US" sz="1300" dirty="0">
                <a:solidFill>
                  <a:schemeClr val="tx2"/>
                </a:solidFill>
              </a:rPr>
              <a:t>아침 시작과 점심 후 재개. 재가동일에 더 자주</a:t>
            </a:r>
            <a:endParaRPr lang="en-US" sz="1300" dirty="0"/>
          </a:p>
          <a:p>
            <a:pPr marL="342900" indent="-342900">
              <a:spcAft>
                <a:spcPts val="700"/>
              </a:spcAft>
              <a:buSzPct val="100000"/>
              <a:buChar char="•"/>
            </a:pPr>
            <a:r>
              <a:rPr lang="en-US" sz="1300" b="1" dirty="0">
                <a:solidFill>
                  <a:schemeClr val="tx1"/>
                </a:solidFill>
              </a:rPr>
              <a:t>유형2: </a:t>
            </a:r>
            <a:pPr indent="0" marL="0">
              <a:spcAft>
                <a:spcPts val="700"/>
              </a:spcAft>
              <a:buNone/>
            </a:pPr>
            <a:r>
              <a:rPr lang="en-US" sz="1300" dirty="0">
                <a:solidFill>
                  <a:schemeClr val="tx2"/>
                </a:solidFill>
              </a:rPr>
              <a:t>생산이 많은 시간대. 재가동일과 무관</a:t>
            </a:r>
            <a:endParaRPr lang="en-US" sz="1300" dirty="0"/>
          </a:p>
          <a:p>
            <a:pPr marL="342900" indent="-342900">
              <a:spcAft>
                <a:spcPts val="700"/>
              </a:spcAft>
              <a:buSzPct val="100000"/>
              <a:buChar char="•"/>
            </a:pPr>
            <a:r>
              <a:rPr lang="en-US" sz="1300" b="1" dirty="0">
                <a:solidFill>
                  <a:schemeClr val="tx1"/>
                </a:solidFill>
              </a:rPr>
              <a:t>공통: </a:t>
            </a:r>
            <a:pPr indent="0" marL="0">
              <a:spcAft>
                <a:spcPts val="700"/>
              </a:spcAft>
              <a:buNone/>
            </a:pPr>
            <a:r>
              <a:rPr lang="en-US" sz="1300" dirty="0">
                <a:solidFill>
                  <a:schemeClr val="tx2"/>
                </a:solidFill>
              </a:rPr>
              <a:t>27℃ 이상 가동일의 96%에서 발생</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단계 번호"/>
          <p:cNvSpPr/>
          <p:nvPr/>
        </p:nvSpPr>
        <p:spPr>
          <a:xfrm>
            <a:off x="822960" y="2423160"/>
            <a:ext cx="1188720" cy="1188720"/>
          </a:xfrm>
          <a:prstGeom prst="ellipse">
            <a:avLst/>
          </a:prstGeom>
          <a:solidFill>
            <a:schemeClr val="accent1"/>
          </a:solidFill>
          <a:ln w="12700">
            <a:solidFill>
              <a:schemeClr val="accent1"/>
            </a:solidFill>
            <a:prstDash val="solid"/>
          </a:ln>
        </p:spPr>
      </p:sp>
      <p:sp>
        <p:nvSpPr>
          <p:cNvPr id="3" name="Text 1"/>
          <p:cNvSpPr txBox="1"/>
          <p:nvPr/>
        </p:nvSpPr>
        <p:spPr>
          <a:xfrm>
            <a:off x="822960" y="2423160"/>
            <a:ext cx="1188720" cy="1188720"/>
          </a:xfrm>
          <a:prstGeom prst="rect">
            <a:avLst/>
          </a:prstGeom>
          <a:noFill/>
          <a:ln/>
        </p:spPr>
        <p:txBody>
          <a:bodyPr wrap="square" lIns="0" tIns="0" rIns="0" bIns="0" rtlCol="0" anchor="ctr"/>
          <a:lstStyle/>
          <a:p>
            <a:pPr algn="ctr" indent="0" marL="0">
              <a:buNone/>
            </a:pPr>
            <a:r>
              <a:rPr lang="en-US" sz="4800" b="1" dirty="0">
                <a:solidFill>
                  <a:schemeClr val="tx1"/>
                </a:solidFill>
              </a:rPr>
              <a:t>6</a:t>
            </a:r>
            <a:endParaRPr lang="en-US" sz="4800" dirty="0"/>
          </a:p>
        </p:txBody>
      </p:sp>
      <p:sp>
        <p:nvSpPr>
          <p:cNvPr id="4" name="Text 0"/>
          <p:cNvSpPr/>
          <p:nvPr>
            <p:ph idx="100" type="title" hasCustomPrompt="1"/>
          </p:nvPr>
        </p:nvSpPr>
        <p:spPr>
          <a:xfrm>
            <a:off x="2377440" y="2468880"/>
            <a:ext cx="8961120" cy="1005840"/>
          </a:xfrm>
          <a:prstGeom prst="rect">
            <a:avLst/>
          </a:prstGeom>
          <a:noFill/>
          <a:ln/>
        </p:spPr>
        <p:txBody>
          <a:bodyPr wrap="square" lIns="0" tIns="0" rIns="0" bIns="0" rtlCol="0" anchor="t"/>
          <a:lstStyle/>
          <a:p>
            <a:pPr algn="l" indent="0" marL="0">
              <a:buNone/>
            </a:pPr>
            <a:r>
              <a:rPr lang="en-US" sz="3800" b="1" dirty="0">
                <a:solidFill>
                  <a:schemeClr val="bg1"/>
                </a:solidFill>
              </a:rPr>
              <a:t>저감방안</a:t>
            </a:r>
            <a:endParaRPr lang="en-US" sz="3800" dirty="0"/>
          </a:p>
        </p:txBody>
      </p:sp>
      <p:sp>
        <p:nvSpPr>
          <p:cNvPr id="5" name="Text 0"/>
          <p:cNvSpPr/>
          <p:nvPr>
            <p:ph idx="101" type="body" hasCustomPrompt="1"/>
          </p:nvPr>
        </p:nvSpPr>
        <p:spPr>
          <a:xfrm>
            <a:off x="2377440" y="3611880"/>
            <a:ext cx="8961120" cy="1463040"/>
          </a:xfrm>
          <a:prstGeom prst="rect">
            <a:avLst/>
          </a:prstGeom>
          <a:noFill/>
          <a:ln/>
        </p:spPr>
        <p:txBody>
          <a:bodyPr wrap="square" lIns="0" tIns="0" rIns="0" bIns="0" rtlCol="0" anchor="t"/>
          <a:lstStyle/>
          <a:p>
            <a:pPr indent="0" marL="0">
              <a:buNone/>
            </a:pPr>
            <a:r>
              <a:rPr lang="en-US" sz="1700" dirty="0">
                <a:solidFill>
                  <a:schemeClr val="accent6"/>
                </a:solidFill>
              </a:rPr>
              <a:t>유형별 조치 시뮬레이션, 예측 연동 운영 검증, 요금 환산과 현장 운영 절차</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한 유형만 줄이면 다른 유형이 최대가 되므로 두 조치를 함께 쓴다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6단계 · 유형별 조치 시뮬레이션</a:t>
            </a:r>
            <a:endParaRPr lang="en-US" sz="1200" dirty="0"/>
          </a:p>
        </p:txBody>
      </p:sp>
      <p:pic>
        <p:nvPicPr>
          <p:cNvPr id="5" name="조치별 효과 차트" descr="피크 발생일 일 최대 평균 감소(kW)">    </p:cNvPr>
          <p:cNvPicPr>
            <a:picLocks noChangeAspect="1"/>
          </p:cNvPicPr>
          <p:nvPr/>
        </p:nvPicPr>
        <p:blipFill>
          <a:blip r:embed="rId1"/>
          <a:stretch>
            <a:fillRect/>
          </a:stretch>
        </p:blipFill>
        <p:spPr>
          <a:xfrm>
            <a:off x="548640" y="1463040"/>
            <a:ext cx="4297680" cy="2606040"/>
          </a:xfrm>
          <a:prstGeom prst="rect">
            <a:avLst/>
          </a:prstGeom>
        </p:spPr>
      </p:pic>
      <p:pic>
        <p:nvPicPr>
          <p:cNvPr id="6" name="유형별 조치 전후 하루 부하 프로파일(7월 19일)" descr="유형별 조치 전후 하루 부하 프로파일(7월 19일)">    </p:cNvPr>
          <p:cNvPicPr>
            <a:picLocks noChangeAspect="1"/>
          </p:cNvPicPr>
          <p:nvPr/>
        </p:nvPicPr>
        <p:blipFill>
          <a:blip r:embed="rId2"/>
          <a:stretch>
            <a:fillRect/>
          </a:stretch>
        </p:blipFill>
        <p:spPr>
          <a:xfrm>
            <a:off x="5572103" y="1463040"/>
            <a:ext cx="5525306" cy="2606040"/>
          </a:xfrm>
          <a:prstGeom prst="rect">
            <a:avLst/>
          </a:prstGeom>
        </p:spPr>
      </p:pic>
      <p:graphicFrame>
        <p:nvGraphicFramePr>
          <p:cNvPr id="27" name="표"/>
          <p:cNvGraphicFramePr>
            <a:graphicFrameLocks noGrp="1"/>
          </p:cNvGraphicFramePr>
          <p:nvPr>
            <p:extLst>
              <p:ext uri="{D42A27DB-BD31-4B8C-83A1-F6EECF244321}">
                <p14:modId xmlns:p14="http://schemas.microsoft.com/office/powerpoint/2010/main" val="1579011935"/>
              </p:ext>
            </p:extLst>
          </p:nvPr>
        </p:nvGraphicFramePr>
        <p:xfrm>
          <a:off x="548640" y="4297680"/>
          <a:ext cx="11091672" cy="914400"/>
        </p:xfrm>
        <a:graphic>
          <a:graphicData uri="http://schemas.openxmlformats.org/drawingml/2006/table">
            <a:tbl>
              <a:tblPr/>
              <a:tblGrid>
                <a:gridCol w="2011680"/>
                <a:gridCol w="731520"/>
                <a:gridCol w="3566160"/>
                <a:gridCol w="1463040"/>
                <a:gridCol w="1463040"/>
                <a:gridCol w="1856232"/>
              </a:tblGrid>
              <a:tr h="384048">
                <a:tc>
                  <a:txBody>
                    <a:bodyPr/>
                    <a:lstStyle/>
                    <a:p>
                      <a:pPr algn="l" indent="0" marL="0">
                        <a:buNone/>
                      </a:pPr>
                      <a:r>
                        <a:rPr lang="en-US" sz="1200" b="1" dirty="0">
                          <a:solidFill>
                            <a:schemeClr val="bg1"/>
                          </a:solidFill>
                        </a:rPr>
                        <a:t>조치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대상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내용</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유형1 구간 최대</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유형2 구간 최대</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일 최대 감소</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84048">
                <a:tc>
                  <a:txBody>
                    <a:bodyPr/>
                    <a:lstStyle/>
                    <a:p>
                      <a:pPr indent="0" marL="0">
                        <a:buNone/>
                      </a:pPr>
                      <a:r>
                        <a:rPr lang="en-US" sz="1200" dirty="0">
                          <a:solidFill>
                            <a:schemeClr val="tx2"/>
                          </a:solidFill>
                        </a:rPr>
                        <a:t>A. 설비 가동시점 분산</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유형1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시작·재개 후 2시간 부하를 직전 2시간으로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197.4 → 194.6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변화 없음</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3.3 kW (재가동일 5.7)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2"/>
                          </a:solidFill>
                        </a:rPr>
                        <a:t>B. 생산일정 이동</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유형2</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피크 구간 생산을 같은 날 17~22시로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변화 없음</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187.6 → 184.4</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4.5 kW</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A + B 동시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둘 다</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두 조치 동시 적용</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197.4 → 190.7</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187.6 → 181.3</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11.5 kW (5.8%)</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8" name="Text 2"/>
          <p:cNvSpPr txBox="1"/>
          <p:nvPr/>
        </p:nvSpPr>
        <p:spPr>
          <a:xfrm>
            <a:off x="548640" y="6035040"/>
            <a:ext cx="11091672" cy="274320"/>
          </a:xfrm>
          <a:prstGeom prst="rect">
            <a:avLst/>
          </a:prstGeom>
          <a:noFill/>
          <a:ln/>
        </p:spPr>
        <p:txBody>
          <a:bodyPr wrap="square" lIns="0" tIns="0" rIns="0" bIns="0" rtlCol="0" anchor="t"/>
          <a:lstStyle/>
          <a:p>
            <a:pPr indent="0" marL="0">
              <a:spcAft>
                <a:spcPts val="500"/>
              </a:spcAft>
              <a:buNone/>
            </a:pPr>
            <a:r>
              <a:rPr lang="en-US" sz="1200" dirty="0">
                <a:solidFill>
                  <a:schemeClr val="accent5"/>
                </a:solidFill>
              </a:rPr>
              <a:t>가정: 기저부하를 넘는 부하의 20%만 이동 가능, 하루 총 전력량은 유지. A + B는 7~9월 최대수요전력을 222 → 212 kW로 낮춘다.</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하루 전 예측만으로 최대수요전력을 204에서 189 kW로 낮췄다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6단계 · 예측 연동 운영 검증</a:t>
            </a:r>
            <a:endParaRPr lang="en-US" sz="1200" dirty="0"/>
          </a:p>
        </p:txBody>
      </p:sp>
      <p:pic>
        <p:nvPicPr>
          <p:cNvPr id="5" name="예측 연동 운영 차트" descr="경보 기준별 시험 2주 최대수요전력(kW)">    </p:cNvPr>
          <p:cNvPicPr>
            <a:picLocks noChangeAspect="1"/>
          </p:cNvPicPr>
          <p:nvPr/>
        </p:nvPicPr>
        <p:blipFill>
          <a:blip r:embed="rId1"/>
          <a:stretch>
            <a:fillRect/>
          </a:stretch>
        </p:blipFill>
        <p:spPr>
          <a:xfrm>
            <a:off x="548640" y="1463040"/>
            <a:ext cx="6035040" cy="3291840"/>
          </a:xfrm>
          <a:prstGeom prst="rect">
            <a:avLst/>
          </a:prstGeom>
        </p:spPr>
      </p:pic>
      <p:sp>
        <p:nvSpPr>
          <p:cNvPr id="6" name="규칙 카드"/>
          <p:cNvSpPr/>
          <p:nvPr/>
        </p:nvSpPr>
        <p:spPr>
          <a:xfrm>
            <a:off x="6812280" y="1463040"/>
            <a:ext cx="4828032" cy="3291840"/>
          </a:xfrm>
          <a:prstGeom prst="roundRect">
            <a:avLst>
              <a:gd name="adj" fmla="val 2222"/>
            </a:avLst>
          </a:prstGeom>
          <a:solidFill>
            <a:schemeClr val="bg2"/>
          </a:solidFill>
          <a:ln w="12700">
            <a:solidFill>
              <a:schemeClr val="bg2"/>
            </a:solidFill>
            <a:prstDash val="solid"/>
          </a:ln>
        </p:spPr>
      </p:sp>
      <p:sp>
        <p:nvSpPr>
          <p:cNvPr id="7" name="Text 3"/>
          <p:cNvSpPr txBox="1"/>
          <p:nvPr/>
        </p:nvSpPr>
        <p:spPr>
          <a:xfrm>
            <a:off x="7013448" y="1627632"/>
            <a:ext cx="4389120"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운영 규칙</a:t>
            </a:r>
            <a:endParaRPr lang="en-US" sz="1500" dirty="0"/>
          </a:p>
        </p:txBody>
      </p:sp>
      <p:sp>
        <p:nvSpPr>
          <p:cNvPr id="8" name="Text 4"/>
          <p:cNvSpPr txBox="1"/>
          <p:nvPr/>
        </p:nvSpPr>
        <p:spPr>
          <a:xfrm>
            <a:off x="7013448" y="2011680"/>
            <a:ext cx="4434840" cy="26517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tx2"/>
                </a:solidFill>
              </a:rPr>
              <a:t>전날 일 최대 예측이 경보 기준 이상이면 조치일로 지정</a:t>
            </a:r>
            <a:endParaRPr lang="en-US" sz="1300" dirty="0"/>
          </a:p>
          <a:p>
            <a:pPr marL="342900" indent="-342900">
              <a:spcAft>
                <a:spcPts val="700"/>
              </a:spcAft>
              <a:buSzPct val="100000"/>
              <a:buChar char="•"/>
            </a:pPr>
            <a:r>
              <a:rPr lang="en-US" sz="1300" dirty="0">
                <a:solidFill>
                  <a:schemeClr val="tx2"/>
                </a:solidFill>
              </a:rPr>
              <a:t>주간(8~17시) 설비 블록 15 kW를 저녁(17~24시)으로 이동</a:t>
            </a:r>
            <a:endParaRPr lang="en-US" sz="1300" dirty="0"/>
          </a:p>
          <a:p>
            <a:pPr marL="342900" indent="-342900">
              <a:spcAft>
                <a:spcPts val="700"/>
              </a:spcAft>
              <a:buSzPct val="100000"/>
              <a:buChar char="•"/>
            </a:pPr>
            <a:r>
              <a:rPr lang="en-US" sz="1300" dirty="0">
                <a:solidFill>
                  <a:schemeClr val="tx2"/>
                </a:solidFill>
              </a:rPr>
              <a:t>옮긴 전력량은 예측 프로파일에서 여유가 큰 시간에 배분</a:t>
            </a:r>
            <a:endParaRPr lang="en-US" sz="1300" dirty="0"/>
          </a:p>
          <a:p>
            <a:pPr marL="342900" indent="-342900">
              <a:spcAft>
                <a:spcPts val="700"/>
              </a:spcAft>
              <a:buSzPct val="100000"/>
              <a:buChar char="•"/>
            </a:pPr>
            <a:r>
              <a:rPr lang="en-US" sz="1300" dirty="0">
                <a:solidFill>
                  <a:schemeClr val="tx2"/>
                </a:solidFill>
              </a:rPr>
              <a:t>이 계획을 실측 부하에 적용해 평가(실측을 미리 알 필요 없음)</a:t>
            </a:r>
            <a:endParaRPr lang="en-US" sz="1300" dirty="0"/>
          </a:p>
        </p:txBody>
      </p:sp>
      <p:sp>
        <p:nvSpPr>
          <p:cNvPr id="9" name="결과 카드"/>
          <p:cNvSpPr/>
          <p:nvPr/>
        </p:nvSpPr>
        <p:spPr>
          <a:xfrm>
            <a:off x="548640" y="4983480"/>
            <a:ext cx="3566160" cy="1298448"/>
          </a:xfrm>
          <a:prstGeom prst="roundRect">
            <a:avLst>
              <a:gd name="adj" fmla="val 5634"/>
            </a:avLst>
          </a:prstGeom>
          <a:solidFill>
            <a:schemeClr val="bg2"/>
          </a:solidFill>
          <a:ln w="12700">
            <a:solidFill>
              <a:schemeClr val="bg2"/>
            </a:solidFill>
            <a:prstDash val="solid"/>
          </a:ln>
        </p:spPr>
      </p:sp>
      <p:sp>
        <p:nvSpPr>
          <p:cNvPr id="10" name="Text 6"/>
          <p:cNvSpPr txBox="1"/>
          <p:nvPr/>
        </p:nvSpPr>
        <p:spPr>
          <a:xfrm>
            <a:off x="749808" y="5093208"/>
            <a:ext cx="3163824" cy="411480"/>
          </a:xfrm>
          <a:prstGeom prst="rect">
            <a:avLst/>
          </a:prstGeom>
          <a:noFill/>
          <a:ln/>
        </p:spPr>
        <p:txBody>
          <a:bodyPr wrap="square" lIns="0" tIns="0" rIns="0" bIns="0" rtlCol="0" anchor="ctr"/>
          <a:lstStyle/>
          <a:p>
            <a:pPr indent="0" marL="0">
              <a:spcAft>
                <a:spcPts val="500"/>
              </a:spcAft>
              <a:buNone/>
            </a:pPr>
            <a:r>
              <a:rPr lang="en-US" sz="1900" b="1" dirty="0">
                <a:solidFill>
                  <a:schemeClr val="accent2"/>
                </a:solidFill>
              </a:rPr>
              <a:t>-15 kW (-7.4%)</a:t>
            </a:r>
            <a:endParaRPr lang="en-US" sz="1900" dirty="0"/>
          </a:p>
        </p:txBody>
      </p:sp>
      <p:sp>
        <p:nvSpPr>
          <p:cNvPr id="11" name="Text 7"/>
          <p:cNvSpPr txBox="1"/>
          <p:nvPr/>
        </p:nvSpPr>
        <p:spPr>
          <a:xfrm>
            <a:off x="749808" y="5550408"/>
            <a:ext cx="3163824" cy="6858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기준 185 kW에서 시험 2주 최대수요전력 204 → 189 kW</a:t>
            </a:r>
            <a:endParaRPr lang="en-US" sz="1200" dirty="0"/>
          </a:p>
        </p:txBody>
      </p:sp>
      <p:sp>
        <p:nvSpPr>
          <p:cNvPr id="12" name="결과 카드"/>
          <p:cNvSpPr/>
          <p:nvPr/>
        </p:nvSpPr>
        <p:spPr>
          <a:xfrm>
            <a:off x="4311396" y="4983480"/>
            <a:ext cx="3566160" cy="1298448"/>
          </a:xfrm>
          <a:prstGeom prst="roundRect">
            <a:avLst>
              <a:gd name="adj" fmla="val 5634"/>
            </a:avLst>
          </a:prstGeom>
          <a:solidFill>
            <a:schemeClr val="bg2"/>
          </a:solidFill>
          <a:ln w="12700">
            <a:solidFill>
              <a:schemeClr val="bg2"/>
            </a:solidFill>
            <a:prstDash val="solid"/>
          </a:ln>
        </p:spPr>
      </p:sp>
      <p:sp>
        <p:nvSpPr>
          <p:cNvPr id="13" name="Text 9"/>
          <p:cNvSpPr txBox="1"/>
          <p:nvPr/>
        </p:nvSpPr>
        <p:spPr>
          <a:xfrm>
            <a:off x="4512564" y="5093208"/>
            <a:ext cx="3163824" cy="411480"/>
          </a:xfrm>
          <a:prstGeom prst="rect">
            <a:avLst/>
          </a:prstGeom>
          <a:noFill/>
          <a:ln/>
        </p:spPr>
        <p:txBody>
          <a:bodyPr wrap="square" lIns="0" tIns="0" rIns="0" bIns="0" rtlCol="0" anchor="ctr"/>
          <a:lstStyle/>
          <a:p>
            <a:pPr indent="0" marL="0">
              <a:spcAft>
                <a:spcPts val="500"/>
              </a:spcAft>
              <a:buNone/>
            </a:pPr>
            <a:r>
              <a:rPr lang="en-US" sz="1900" b="1" dirty="0">
                <a:solidFill>
                  <a:schemeClr val="tx1"/>
                </a:solidFill>
              </a:rPr>
              <a:t>목표 - 예측오차</a:t>
            </a:r>
            <a:endParaRPr lang="en-US" sz="1900" dirty="0"/>
          </a:p>
        </p:txBody>
      </p:sp>
      <p:sp>
        <p:nvSpPr>
          <p:cNvPr id="14" name="Text 10"/>
          <p:cNvSpPr txBox="1"/>
          <p:nvPr/>
        </p:nvSpPr>
        <p:spPr>
          <a:xfrm>
            <a:off x="4512564" y="5550408"/>
            <a:ext cx="3163824" cy="6858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기준을 190 kW로 두면 09-10(실측 204, 예측 187)을 놓쳐 효과 0. 일 최대 예측오차 약 6 kW를 빼야 한다</a:t>
            </a:r>
            <a:endParaRPr lang="en-US" sz="1200" dirty="0"/>
          </a:p>
        </p:txBody>
      </p:sp>
      <p:sp>
        <p:nvSpPr>
          <p:cNvPr id="15" name="결과 카드"/>
          <p:cNvSpPr/>
          <p:nvPr/>
        </p:nvSpPr>
        <p:spPr>
          <a:xfrm>
            <a:off x="8074152" y="4983480"/>
            <a:ext cx="3566160" cy="1298448"/>
          </a:xfrm>
          <a:prstGeom prst="roundRect">
            <a:avLst>
              <a:gd name="adj" fmla="val 5634"/>
            </a:avLst>
          </a:prstGeom>
          <a:solidFill>
            <a:schemeClr val="bg2"/>
          </a:solidFill>
          <a:ln w="12700">
            <a:solidFill>
              <a:schemeClr val="bg2"/>
            </a:solidFill>
            <a:prstDash val="solid"/>
          </a:ln>
        </p:spPr>
      </p:sp>
      <p:sp>
        <p:nvSpPr>
          <p:cNvPr id="16" name="Text 12"/>
          <p:cNvSpPr txBox="1"/>
          <p:nvPr/>
        </p:nvSpPr>
        <p:spPr>
          <a:xfrm>
            <a:off x="8275320" y="5093208"/>
            <a:ext cx="3163824" cy="411480"/>
          </a:xfrm>
          <a:prstGeom prst="rect">
            <a:avLst/>
          </a:prstGeom>
          <a:noFill/>
          <a:ln/>
        </p:spPr>
        <p:txBody>
          <a:bodyPr wrap="square" lIns="0" tIns="0" rIns="0" bIns="0" rtlCol="0" anchor="ctr"/>
          <a:lstStyle/>
          <a:p>
            <a:pPr indent="0" marL="0">
              <a:spcAft>
                <a:spcPts val="500"/>
              </a:spcAft>
              <a:buNone/>
            </a:pPr>
            <a:r>
              <a:rPr lang="en-US" sz="1900" b="1" dirty="0">
                <a:solidFill>
                  <a:schemeClr val="tx1"/>
                </a:solidFill>
              </a:rPr>
              <a:t>-13,913원 / 2주</a:t>
            </a:r>
            <a:endParaRPr lang="en-US" sz="1900" dirty="0"/>
          </a:p>
        </p:txBody>
      </p:sp>
      <p:sp>
        <p:nvSpPr>
          <p:cNvPr id="17" name="Text 13"/>
          <p:cNvSpPr txBox="1"/>
          <p:nvPr/>
        </p:nvSpPr>
        <p:spPr>
          <a:xfrm>
            <a:off x="8275320" y="5550408"/>
            <a:ext cx="3163824" cy="6858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저녁 일부가 22~24시 경부하 시간대로 가서 전력량요금도 줄어든다</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예측 → 경보 → 유형별 조치 → 점검 → 재학습 절차로 현장에 적용한다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6단계 · 현장 운영 절차와 요금 환산</a:t>
            </a:r>
            <a:endParaRPr lang="en-US" sz="1200" dirty="0"/>
          </a:p>
        </p:txBody>
      </p:sp>
      <p:sp>
        <p:nvSpPr>
          <p:cNvPr id="5" name="절차 카드"/>
          <p:cNvSpPr/>
          <p:nvPr/>
        </p:nvSpPr>
        <p:spPr>
          <a:xfrm>
            <a:off x="548640" y="1508760"/>
            <a:ext cx="1755648" cy="2286000"/>
          </a:xfrm>
          <a:prstGeom prst="roundRect">
            <a:avLst>
              <a:gd name="adj" fmla="val 4167"/>
            </a:avLst>
          </a:prstGeom>
          <a:solidFill>
            <a:schemeClr val="bg2"/>
          </a:solidFill>
          <a:ln w="12700">
            <a:solidFill>
              <a:schemeClr val="bg2"/>
            </a:solidFill>
            <a:prstDash val="solid"/>
          </a:ln>
        </p:spPr>
      </p:sp>
      <p:sp>
        <p:nvSpPr>
          <p:cNvPr id="6" name="절차 번호"/>
          <p:cNvSpPr/>
          <p:nvPr/>
        </p:nvSpPr>
        <p:spPr>
          <a:xfrm>
            <a:off x="731520" y="1691640"/>
            <a:ext cx="457200" cy="457200"/>
          </a:xfrm>
          <a:prstGeom prst="ellipse">
            <a:avLst/>
          </a:prstGeom>
          <a:solidFill>
            <a:schemeClr val="tx1"/>
          </a:solidFill>
          <a:ln w="12700">
            <a:solidFill>
              <a:schemeClr val="bg2"/>
            </a:solidFill>
            <a:prstDash val="solid"/>
          </a:ln>
        </p:spPr>
      </p:sp>
      <p:sp>
        <p:nvSpPr>
          <p:cNvPr id="7" name="Text 4"/>
          <p:cNvSpPr txBox="1"/>
          <p:nvPr/>
        </p:nvSpPr>
        <p:spPr>
          <a:xfrm>
            <a:off x="731520" y="1691640"/>
            <a:ext cx="457200" cy="457200"/>
          </a:xfrm>
          <a:prstGeom prst="rect">
            <a:avLst/>
          </a:prstGeom>
          <a:noFill/>
          <a:ln/>
        </p:spPr>
        <p:txBody>
          <a:bodyPr wrap="square" lIns="0" tIns="0" rIns="0" bIns="0" rtlCol="0" anchor="ctr"/>
          <a:lstStyle/>
          <a:p>
            <a:pPr algn="ctr" indent="0" marL="0">
              <a:spcAft>
                <a:spcPts val="500"/>
              </a:spcAft>
              <a:buNone/>
            </a:pPr>
            <a:r>
              <a:rPr lang="en-US" sz="1600" b="1" dirty="0">
                <a:solidFill>
                  <a:schemeClr val="bg1"/>
                </a:solidFill>
              </a:rPr>
              <a:t>1</a:t>
            </a:r>
            <a:endParaRPr lang="en-US" sz="1600" dirty="0"/>
          </a:p>
        </p:txBody>
      </p:sp>
      <p:sp>
        <p:nvSpPr>
          <p:cNvPr id="8" name="Text 5"/>
          <p:cNvSpPr txBox="1"/>
          <p:nvPr/>
        </p:nvSpPr>
        <p:spPr>
          <a:xfrm>
            <a:off x="731520" y="2258568"/>
            <a:ext cx="14356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전일 오후</a:t>
            </a:r>
            <a:endParaRPr lang="en-US" sz="1500" dirty="0"/>
          </a:p>
        </p:txBody>
      </p:sp>
      <p:sp>
        <p:nvSpPr>
          <p:cNvPr id="9" name="Text 6"/>
          <p:cNvSpPr txBox="1"/>
          <p:nvPr/>
        </p:nvSpPr>
        <p:spPr>
          <a:xfrm>
            <a:off x="731520" y="2624328"/>
            <a:ext cx="1435608" cy="10972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생산계획 확정 직후 모델 실행. 96개 15분 예측, 80% 구간, 일 최대 예측</a:t>
            </a:r>
            <a:endParaRPr lang="en-US" sz="1200" dirty="0"/>
          </a:p>
        </p:txBody>
      </p:sp>
      <p:sp>
        <p:nvSpPr>
          <p:cNvPr id="10" name="절차 카드"/>
          <p:cNvSpPr/>
          <p:nvPr/>
        </p:nvSpPr>
        <p:spPr>
          <a:xfrm>
            <a:off x="2416759" y="1508760"/>
            <a:ext cx="1755648" cy="2286000"/>
          </a:xfrm>
          <a:prstGeom prst="roundRect">
            <a:avLst>
              <a:gd name="adj" fmla="val 4167"/>
            </a:avLst>
          </a:prstGeom>
          <a:solidFill>
            <a:schemeClr val="bg2"/>
          </a:solidFill>
          <a:ln w="12700">
            <a:solidFill>
              <a:schemeClr val="bg2"/>
            </a:solidFill>
            <a:prstDash val="solid"/>
          </a:ln>
        </p:spPr>
      </p:sp>
      <p:sp>
        <p:nvSpPr>
          <p:cNvPr id="11" name="절차 번호"/>
          <p:cNvSpPr/>
          <p:nvPr/>
        </p:nvSpPr>
        <p:spPr>
          <a:xfrm>
            <a:off x="2599639" y="1691640"/>
            <a:ext cx="457200" cy="457200"/>
          </a:xfrm>
          <a:prstGeom prst="ellipse">
            <a:avLst/>
          </a:prstGeom>
          <a:solidFill>
            <a:schemeClr val="tx1"/>
          </a:solidFill>
          <a:ln w="12700">
            <a:solidFill>
              <a:schemeClr val="bg2"/>
            </a:solidFill>
            <a:prstDash val="solid"/>
          </a:ln>
        </p:spPr>
      </p:sp>
      <p:sp>
        <p:nvSpPr>
          <p:cNvPr id="12" name="Text 9"/>
          <p:cNvSpPr txBox="1"/>
          <p:nvPr/>
        </p:nvSpPr>
        <p:spPr>
          <a:xfrm>
            <a:off x="2599639" y="1691640"/>
            <a:ext cx="457200" cy="457200"/>
          </a:xfrm>
          <a:prstGeom prst="rect">
            <a:avLst/>
          </a:prstGeom>
          <a:noFill/>
          <a:ln/>
        </p:spPr>
        <p:txBody>
          <a:bodyPr wrap="square" lIns="0" tIns="0" rIns="0" bIns="0" rtlCol="0" anchor="ctr"/>
          <a:lstStyle/>
          <a:p>
            <a:pPr algn="ctr" indent="0" marL="0">
              <a:spcAft>
                <a:spcPts val="500"/>
              </a:spcAft>
              <a:buNone/>
            </a:pPr>
            <a:r>
              <a:rPr lang="en-US" sz="1600" b="1" dirty="0">
                <a:solidFill>
                  <a:schemeClr val="bg1"/>
                </a:solidFill>
              </a:rPr>
              <a:t>2</a:t>
            </a:r>
            <a:endParaRPr lang="en-US" sz="1600" dirty="0"/>
          </a:p>
        </p:txBody>
      </p:sp>
      <p:sp>
        <p:nvSpPr>
          <p:cNvPr id="13" name="Text 10"/>
          <p:cNvSpPr txBox="1"/>
          <p:nvPr/>
        </p:nvSpPr>
        <p:spPr>
          <a:xfrm>
            <a:off x="2599639" y="2258568"/>
            <a:ext cx="14356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경보일 지정</a:t>
            </a:r>
            <a:endParaRPr lang="en-US" sz="1500" dirty="0"/>
          </a:p>
        </p:txBody>
      </p:sp>
      <p:sp>
        <p:nvSpPr>
          <p:cNvPr id="14" name="Text 11"/>
          <p:cNvSpPr txBox="1"/>
          <p:nvPr/>
        </p:nvSpPr>
        <p:spPr>
          <a:xfrm>
            <a:off x="2599639" y="2624328"/>
            <a:ext cx="1435608" cy="10972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일 최대 예측이 185 kW 이상이면 생산관리자에게 알림</a:t>
            </a:r>
            <a:endParaRPr lang="en-US" sz="1200" dirty="0"/>
          </a:p>
        </p:txBody>
      </p:sp>
      <p:sp>
        <p:nvSpPr>
          <p:cNvPr id="15" name="절차 카드"/>
          <p:cNvSpPr/>
          <p:nvPr/>
        </p:nvSpPr>
        <p:spPr>
          <a:xfrm>
            <a:off x="4284878" y="1508760"/>
            <a:ext cx="1755648" cy="2286000"/>
          </a:xfrm>
          <a:prstGeom prst="roundRect">
            <a:avLst>
              <a:gd name="adj" fmla="val 4167"/>
            </a:avLst>
          </a:prstGeom>
          <a:solidFill>
            <a:schemeClr val="bg2"/>
          </a:solidFill>
          <a:ln w="12700">
            <a:solidFill>
              <a:schemeClr val="bg2"/>
            </a:solidFill>
            <a:prstDash val="solid"/>
          </a:ln>
        </p:spPr>
      </p:sp>
      <p:sp>
        <p:nvSpPr>
          <p:cNvPr id="16" name="절차 번호"/>
          <p:cNvSpPr/>
          <p:nvPr/>
        </p:nvSpPr>
        <p:spPr>
          <a:xfrm>
            <a:off x="4467758" y="1691640"/>
            <a:ext cx="457200" cy="457200"/>
          </a:xfrm>
          <a:prstGeom prst="ellipse">
            <a:avLst/>
          </a:prstGeom>
          <a:solidFill>
            <a:schemeClr val="accent1"/>
          </a:solidFill>
          <a:ln w="12700">
            <a:solidFill>
              <a:schemeClr val="bg2"/>
            </a:solidFill>
            <a:prstDash val="solid"/>
          </a:ln>
        </p:spPr>
      </p:sp>
      <p:sp>
        <p:nvSpPr>
          <p:cNvPr id="17" name="Text 14"/>
          <p:cNvSpPr txBox="1"/>
          <p:nvPr/>
        </p:nvSpPr>
        <p:spPr>
          <a:xfrm>
            <a:off x="4467758" y="1691640"/>
            <a:ext cx="457200" cy="457200"/>
          </a:xfrm>
          <a:prstGeom prst="rect">
            <a:avLst/>
          </a:prstGeom>
          <a:noFill/>
          <a:ln/>
        </p:spPr>
        <p:txBody>
          <a:bodyPr wrap="square" lIns="0" tIns="0" rIns="0" bIns="0" rtlCol="0" anchor="ctr"/>
          <a:lstStyle/>
          <a:p>
            <a:pPr algn="ctr" indent="0" marL="0">
              <a:spcAft>
                <a:spcPts val="500"/>
              </a:spcAft>
              <a:buNone/>
            </a:pPr>
            <a:r>
              <a:rPr lang="en-US" sz="1600" b="1" dirty="0">
                <a:solidFill>
                  <a:schemeClr val="bg1"/>
                </a:solidFill>
              </a:rPr>
              <a:t>3</a:t>
            </a:r>
            <a:endParaRPr lang="en-US" sz="1600" dirty="0"/>
          </a:p>
        </p:txBody>
      </p:sp>
      <p:sp>
        <p:nvSpPr>
          <p:cNvPr id="18" name="Text 15"/>
          <p:cNvSpPr txBox="1"/>
          <p:nvPr/>
        </p:nvSpPr>
        <p:spPr>
          <a:xfrm>
            <a:off x="4467758" y="2258568"/>
            <a:ext cx="14356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유형1 대비</a:t>
            </a:r>
            <a:endParaRPr lang="en-US" sz="1500" dirty="0"/>
          </a:p>
        </p:txBody>
      </p:sp>
      <p:sp>
        <p:nvSpPr>
          <p:cNvPr id="19" name="Text 16"/>
          <p:cNvSpPr txBox="1"/>
          <p:nvPr/>
        </p:nvSpPr>
        <p:spPr>
          <a:xfrm>
            <a:off x="4467758" y="2624328"/>
            <a:ext cx="1435608" cy="10972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8시·13시에 한꺼번에 켜던 설비 일부를 1~2시간 먼저 가동. 재가동일은 반드시</a:t>
            </a:r>
            <a:endParaRPr lang="en-US" sz="1200" dirty="0"/>
          </a:p>
        </p:txBody>
      </p:sp>
      <p:sp>
        <p:nvSpPr>
          <p:cNvPr id="20" name="절차 카드"/>
          <p:cNvSpPr/>
          <p:nvPr/>
        </p:nvSpPr>
        <p:spPr>
          <a:xfrm>
            <a:off x="6152998" y="1508760"/>
            <a:ext cx="1755648" cy="2286000"/>
          </a:xfrm>
          <a:prstGeom prst="roundRect">
            <a:avLst>
              <a:gd name="adj" fmla="val 4167"/>
            </a:avLst>
          </a:prstGeom>
          <a:solidFill>
            <a:schemeClr val="bg2"/>
          </a:solidFill>
          <a:ln w="12700">
            <a:solidFill>
              <a:schemeClr val="bg2"/>
            </a:solidFill>
            <a:prstDash val="solid"/>
          </a:ln>
        </p:spPr>
      </p:sp>
      <p:sp>
        <p:nvSpPr>
          <p:cNvPr id="21" name="절차 번호"/>
          <p:cNvSpPr/>
          <p:nvPr/>
        </p:nvSpPr>
        <p:spPr>
          <a:xfrm>
            <a:off x="6335878" y="1691640"/>
            <a:ext cx="457200" cy="457200"/>
          </a:xfrm>
          <a:prstGeom prst="ellipse">
            <a:avLst/>
          </a:prstGeom>
          <a:solidFill>
            <a:schemeClr val="accent1"/>
          </a:solidFill>
          <a:ln w="12700">
            <a:solidFill>
              <a:schemeClr val="bg2"/>
            </a:solidFill>
            <a:prstDash val="solid"/>
          </a:ln>
        </p:spPr>
      </p:sp>
      <p:sp>
        <p:nvSpPr>
          <p:cNvPr id="22" name="Text 19"/>
          <p:cNvSpPr txBox="1"/>
          <p:nvPr/>
        </p:nvSpPr>
        <p:spPr>
          <a:xfrm>
            <a:off x="6335878" y="1691640"/>
            <a:ext cx="457200" cy="457200"/>
          </a:xfrm>
          <a:prstGeom prst="rect">
            <a:avLst/>
          </a:prstGeom>
          <a:noFill/>
          <a:ln/>
        </p:spPr>
        <p:txBody>
          <a:bodyPr wrap="square" lIns="0" tIns="0" rIns="0" bIns="0" rtlCol="0" anchor="ctr"/>
          <a:lstStyle/>
          <a:p>
            <a:pPr algn="ctr" indent="0" marL="0">
              <a:spcAft>
                <a:spcPts val="500"/>
              </a:spcAft>
              <a:buNone/>
            </a:pPr>
            <a:r>
              <a:rPr lang="en-US" sz="1600" b="1" dirty="0">
                <a:solidFill>
                  <a:schemeClr val="bg1"/>
                </a:solidFill>
              </a:rPr>
              <a:t>4</a:t>
            </a:r>
            <a:endParaRPr lang="en-US" sz="1600" dirty="0"/>
          </a:p>
        </p:txBody>
      </p:sp>
      <p:sp>
        <p:nvSpPr>
          <p:cNvPr id="23" name="Text 20"/>
          <p:cNvSpPr txBox="1"/>
          <p:nvPr/>
        </p:nvSpPr>
        <p:spPr>
          <a:xfrm>
            <a:off x="6335878" y="2258568"/>
            <a:ext cx="14356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유형2 대비</a:t>
            </a:r>
            <a:endParaRPr lang="en-US" sz="1500" dirty="0"/>
          </a:p>
        </p:txBody>
      </p:sp>
      <p:sp>
        <p:nvSpPr>
          <p:cNvPr id="24" name="Text 21"/>
          <p:cNvSpPr txBox="1"/>
          <p:nvPr/>
        </p:nvSpPr>
        <p:spPr>
          <a:xfrm>
            <a:off x="6335878" y="2624328"/>
            <a:ext cx="1435608" cy="10972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9~11시, 14~15시 생산 일부를 17시 이후로. 27℃ 이상 예보일 우선</a:t>
            </a:r>
            <a:endParaRPr lang="en-US" sz="1200" dirty="0"/>
          </a:p>
        </p:txBody>
      </p:sp>
      <p:sp>
        <p:nvSpPr>
          <p:cNvPr id="25" name="절차 카드"/>
          <p:cNvSpPr/>
          <p:nvPr/>
        </p:nvSpPr>
        <p:spPr>
          <a:xfrm>
            <a:off x="8021117" y="1508760"/>
            <a:ext cx="1755648" cy="2286000"/>
          </a:xfrm>
          <a:prstGeom prst="roundRect">
            <a:avLst>
              <a:gd name="adj" fmla="val 4167"/>
            </a:avLst>
          </a:prstGeom>
          <a:solidFill>
            <a:schemeClr val="bg2"/>
          </a:solidFill>
          <a:ln w="12700">
            <a:solidFill>
              <a:schemeClr val="bg2"/>
            </a:solidFill>
            <a:prstDash val="solid"/>
          </a:ln>
        </p:spPr>
      </p:sp>
      <p:sp>
        <p:nvSpPr>
          <p:cNvPr id="26" name="절차 번호"/>
          <p:cNvSpPr/>
          <p:nvPr/>
        </p:nvSpPr>
        <p:spPr>
          <a:xfrm>
            <a:off x="8203997" y="1691640"/>
            <a:ext cx="457200" cy="457200"/>
          </a:xfrm>
          <a:prstGeom prst="ellipse">
            <a:avLst/>
          </a:prstGeom>
          <a:solidFill>
            <a:schemeClr val="tx1"/>
          </a:solidFill>
          <a:ln w="12700">
            <a:solidFill>
              <a:schemeClr val="bg2"/>
            </a:solidFill>
            <a:prstDash val="solid"/>
          </a:ln>
        </p:spPr>
      </p:sp>
      <p:sp>
        <p:nvSpPr>
          <p:cNvPr id="27" name="Text 24"/>
          <p:cNvSpPr txBox="1"/>
          <p:nvPr/>
        </p:nvSpPr>
        <p:spPr>
          <a:xfrm>
            <a:off x="8203997" y="1691640"/>
            <a:ext cx="457200" cy="457200"/>
          </a:xfrm>
          <a:prstGeom prst="rect">
            <a:avLst/>
          </a:prstGeom>
          <a:noFill/>
          <a:ln/>
        </p:spPr>
        <p:txBody>
          <a:bodyPr wrap="square" lIns="0" tIns="0" rIns="0" bIns="0" rtlCol="0" anchor="ctr"/>
          <a:lstStyle/>
          <a:p>
            <a:pPr algn="ctr" indent="0" marL="0">
              <a:spcAft>
                <a:spcPts val="500"/>
              </a:spcAft>
              <a:buNone/>
            </a:pPr>
            <a:r>
              <a:rPr lang="en-US" sz="1600" b="1" dirty="0">
                <a:solidFill>
                  <a:schemeClr val="bg1"/>
                </a:solidFill>
              </a:rPr>
              <a:t>5</a:t>
            </a:r>
            <a:endParaRPr lang="en-US" sz="1600" dirty="0"/>
          </a:p>
        </p:txBody>
      </p:sp>
      <p:sp>
        <p:nvSpPr>
          <p:cNvPr id="28" name="Text 25"/>
          <p:cNvSpPr txBox="1"/>
          <p:nvPr/>
        </p:nvSpPr>
        <p:spPr>
          <a:xfrm>
            <a:off x="8203997" y="2258568"/>
            <a:ext cx="14356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당일 점검</a:t>
            </a:r>
            <a:endParaRPr lang="en-US" sz="1500" dirty="0"/>
          </a:p>
        </p:txBody>
      </p:sp>
      <p:sp>
        <p:nvSpPr>
          <p:cNvPr id="29" name="Text 26"/>
          <p:cNvSpPr txBox="1"/>
          <p:nvPr/>
        </p:nvSpPr>
        <p:spPr>
          <a:xfrm>
            <a:off x="8203997" y="2624328"/>
            <a:ext cx="1435608" cy="10972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예측값 170 kW 이상이거나 피크 확률이 높은 시간대를 먼저 점검하고 설비 추가 기동을 미룸</a:t>
            </a:r>
            <a:endParaRPr lang="en-US" sz="1200" dirty="0"/>
          </a:p>
        </p:txBody>
      </p:sp>
      <p:sp>
        <p:nvSpPr>
          <p:cNvPr id="30" name="절차 카드"/>
          <p:cNvSpPr/>
          <p:nvPr/>
        </p:nvSpPr>
        <p:spPr>
          <a:xfrm>
            <a:off x="9889236" y="1508760"/>
            <a:ext cx="1755648" cy="2286000"/>
          </a:xfrm>
          <a:prstGeom prst="roundRect">
            <a:avLst>
              <a:gd name="adj" fmla="val 4167"/>
            </a:avLst>
          </a:prstGeom>
          <a:solidFill>
            <a:schemeClr val="bg2"/>
          </a:solidFill>
          <a:ln w="12700">
            <a:solidFill>
              <a:schemeClr val="bg2"/>
            </a:solidFill>
            <a:prstDash val="solid"/>
          </a:ln>
        </p:spPr>
      </p:sp>
      <p:sp>
        <p:nvSpPr>
          <p:cNvPr id="31" name="절차 번호"/>
          <p:cNvSpPr/>
          <p:nvPr/>
        </p:nvSpPr>
        <p:spPr>
          <a:xfrm>
            <a:off x="10072116" y="1691640"/>
            <a:ext cx="457200" cy="457200"/>
          </a:xfrm>
          <a:prstGeom prst="ellipse">
            <a:avLst/>
          </a:prstGeom>
          <a:solidFill>
            <a:schemeClr val="tx1"/>
          </a:solidFill>
          <a:ln w="12700">
            <a:solidFill>
              <a:schemeClr val="bg2"/>
            </a:solidFill>
            <a:prstDash val="solid"/>
          </a:ln>
        </p:spPr>
      </p:sp>
      <p:sp>
        <p:nvSpPr>
          <p:cNvPr id="32" name="Text 29"/>
          <p:cNvSpPr txBox="1"/>
          <p:nvPr/>
        </p:nvSpPr>
        <p:spPr>
          <a:xfrm>
            <a:off x="10072116" y="1691640"/>
            <a:ext cx="457200" cy="457200"/>
          </a:xfrm>
          <a:prstGeom prst="rect">
            <a:avLst/>
          </a:prstGeom>
          <a:noFill/>
          <a:ln/>
        </p:spPr>
        <p:txBody>
          <a:bodyPr wrap="square" lIns="0" tIns="0" rIns="0" bIns="0" rtlCol="0" anchor="ctr"/>
          <a:lstStyle/>
          <a:p>
            <a:pPr algn="ctr" indent="0" marL="0">
              <a:spcAft>
                <a:spcPts val="500"/>
              </a:spcAft>
              <a:buNone/>
            </a:pPr>
            <a:r>
              <a:rPr lang="en-US" sz="1600" b="1" dirty="0">
                <a:solidFill>
                  <a:schemeClr val="bg1"/>
                </a:solidFill>
              </a:rPr>
              <a:t>6</a:t>
            </a:r>
            <a:endParaRPr lang="en-US" sz="1600" dirty="0"/>
          </a:p>
        </p:txBody>
      </p:sp>
      <p:sp>
        <p:nvSpPr>
          <p:cNvPr id="33" name="Text 30"/>
          <p:cNvSpPr txBox="1"/>
          <p:nvPr/>
        </p:nvSpPr>
        <p:spPr>
          <a:xfrm>
            <a:off x="10072116" y="2258568"/>
            <a:ext cx="1435608" cy="36576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사후 관리</a:t>
            </a:r>
            <a:endParaRPr lang="en-US" sz="1500" dirty="0"/>
          </a:p>
        </p:txBody>
      </p:sp>
      <p:sp>
        <p:nvSpPr>
          <p:cNvPr id="34" name="Text 31"/>
          <p:cNvSpPr txBox="1"/>
          <p:nvPr/>
        </p:nvSpPr>
        <p:spPr>
          <a:xfrm>
            <a:off x="10072116" y="2624328"/>
            <a:ext cx="1435608" cy="109728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예측과 실측 비교, 특수일·점심 정지 여부 기록, 매주 재학습</a:t>
            </a:r>
            <a:endParaRPr lang="en-US" sz="1200" dirty="0"/>
          </a:p>
        </p:txBody>
      </p:sp>
      <p:sp>
        <p:nvSpPr>
          <p:cNvPr id="35" name="Text 32"/>
          <p:cNvSpPr txBox="1"/>
          <p:nvPr/>
        </p:nvSpPr>
        <p:spPr>
          <a:xfrm>
            <a:off x="548640" y="3977640"/>
            <a:ext cx="3657600" cy="32004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요금 환산</a:t>
            </a:r>
            <a:endParaRPr lang="en-US" sz="1600" dirty="0"/>
          </a:p>
        </p:txBody>
      </p:sp>
      <p:graphicFrame>
        <p:nvGraphicFramePr>
          <p:cNvPr id="29" name="표"/>
          <p:cNvGraphicFramePr>
            <a:graphicFrameLocks noGrp="1"/>
          </p:cNvGraphicFramePr>
          <p:nvPr>
            <p:extLst>
              <p:ext uri="{D42A27DB-BD31-4B8C-83A1-F6EECF244321}">
                <p14:modId xmlns:p14="http://schemas.microsoft.com/office/powerpoint/2010/main" val="1579011935"/>
              </p:ext>
            </p:extLst>
          </p:nvPr>
        </p:nvGraphicFramePr>
        <p:xfrm>
          <a:off x="548640" y="4343400"/>
          <a:ext cx="11091672" cy="914400"/>
        </p:xfrm>
        <a:graphic>
          <a:graphicData uri="http://schemas.openxmlformats.org/drawingml/2006/table">
            <a:tbl>
              <a:tblPr/>
              <a:tblGrid>
                <a:gridCol w="1920240"/>
                <a:gridCol w="2651760"/>
                <a:gridCol w="6519672"/>
              </a:tblGrid>
              <a:tr h="365760">
                <a:tc>
                  <a:txBody>
                    <a:bodyPr/>
                    <a:lstStyle/>
                    <a:p>
                      <a:pPr algn="l" indent="0" marL="0">
                        <a:buNone/>
                      </a:pPr>
                      <a:r>
                        <a:rPr lang="en-US" sz="1200" b="1" dirty="0">
                          <a:solidFill>
                            <a:schemeClr val="bg1"/>
                          </a:solidFill>
                        </a:rPr>
                        <a:t>항목</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설명</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365760">
                <a:tc>
                  <a:txBody>
                    <a:bodyPr/>
                    <a:lstStyle/>
                    <a:p>
                      <a:pPr indent="0" marL="0">
                        <a:buNone/>
                      </a:pPr>
                      <a:r>
                        <a:rPr lang="en-US" sz="1200" dirty="0">
                          <a:solidFill>
                            <a:schemeClr val="tx2"/>
                          </a:solidFill>
                        </a:rPr>
                        <a:t>요금 기준</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산업용(갑)Ⅱ 고압A 선택Ⅱ</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최대 222 kW로 계약전력 300 kW 미만 가정(한전 전기요금표 2023.05.16 시행)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365760">
                <a:tc>
                  <a:txBody>
                    <a:bodyPr/>
                    <a:lstStyle/>
                    <a:p>
                      <a:pPr indent="0" marL="0">
                        <a:buNone/>
                      </a:pPr>
                      <a:r>
                        <a:rPr lang="en-US" sz="1200" dirty="0">
                          <a:solidFill>
                            <a:schemeClr val="tx2"/>
                          </a:solidFill>
                        </a:rPr>
                        <a:t>기본요금</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7,470원 / kW·월</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요금적용전력 = 직전 12개월 중 12·1·2·7·8·9월과 당월 최대수요전력의 최댓값</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365760">
                <a:tc>
                  <a:txBody>
                    <a:bodyPr/>
                    <a:lstStyle/>
                    <a:p>
                      <a:pPr indent="0" marL="0">
                        <a:buNone/>
                      </a:pPr>
                      <a:r>
                        <a:rPr lang="en-US" sz="1200" dirty="0">
                          <a:solidFill>
                            <a:schemeClr val="tx2"/>
                          </a:solidFill>
                        </a:rPr>
                        <a:t>1 kW 감소 효과</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연 89,640원</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여름 피크를 낮추면 1년 동안 효과가 이어진다. 15 kW 감소는 연 약 134만 원</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bl>
          </a:graphicData>
        </a:graphic>
      </p:graphicFrame>
      <p:sp>
        <p:nvSpPr>
          <p:cNvPr id="37" name="Text 33"/>
          <p:cNvSpPr txBox="1"/>
          <p:nvPr/>
        </p:nvSpPr>
        <p:spPr>
          <a:xfrm>
            <a:off x="548640" y="6035040"/>
            <a:ext cx="11091672" cy="274320"/>
          </a:xfrm>
          <a:prstGeom prst="rect">
            <a:avLst/>
          </a:prstGeom>
          <a:noFill/>
          <a:ln/>
        </p:spPr>
        <p:txBody>
          <a:bodyPr wrap="square" lIns="0" tIns="0" rIns="0" bIns="0" rtlCol="0" anchor="t"/>
          <a:lstStyle/>
          <a:p>
            <a:pPr indent="0" marL="0">
              <a:spcAft>
                <a:spcPts val="500"/>
              </a:spcAft>
              <a:buNone/>
            </a:pPr>
            <a:r>
              <a:rPr lang="en-US" sz="1200" dirty="0">
                <a:solidFill>
                  <a:schemeClr val="accent5"/>
                </a:solidFill>
              </a:rPr>
              <a:t>금액이 작은 것은 이 공장이 200 kW 규모이기 때문이며, 감소 비율(약 6~7%)은 규모와 무관하다.</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차별점: 데이터 구조를 먼저 밝히고, 예측과 운영을 피크에 맞췄다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정리 · 창의성과 차별성</a:t>
            </a:r>
            <a:endParaRPr lang="en-US" sz="1200" dirty="0"/>
          </a:p>
        </p:txBody>
      </p:sp>
      <p:sp>
        <p:nvSpPr>
          <p:cNvPr id="5" name="차별점 카드"/>
          <p:cNvSpPr/>
          <p:nvPr/>
        </p:nvSpPr>
        <p:spPr>
          <a:xfrm>
            <a:off x="548640" y="1508760"/>
            <a:ext cx="3566160" cy="2286000"/>
          </a:xfrm>
          <a:prstGeom prst="roundRect">
            <a:avLst>
              <a:gd name="adj" fmla="val 3200"/>
            </a:avLst>
          </a:prstGeom>
          <a:solidFill>
            <a:schemeClr val="bg2"/>
          </a:solidFill>
          <a:ln w="12700">
            <a:solidFill>
              <a:schemeClr val="bg2"/>
            </a:solidFill>
            <a:prstDash val="solid"/>
          </a:ln>
        </p:spPr>
      </p:sp>
      <p:sp>
        <p:nvSpPr>
          <p:cNvPr id="6" name="Text 3"/>
          <p:cNvSpPr txBox="1"/>
          <p:nvPr/>
        </p:nvSpPr>
        <p:spPr>
          <a:xfrm>
            <a:off x="749808" y="1664208"/>
            <a:ext cx="3163824"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증강·손상·누수 진단</a:t>
            </a:r>
            <a:endParaRPr lang="en-US" sz="1600" dirty="0"/>
          </a:p>
        </p:txBody>
      </p:sp>
      <p:sp>
        <p:nvSpPr>
          <p:cNvPr id="7" name="Text 4"/>
          <p:cNvSpPr txBox="1"/>
          <p:nvPr/>
        </p:nvSpPr>
        <p:spPr>
          <a:xfrm>
            <a:off x="749808" y="2103120"/>
            <a:ext cx="3163824" cy="86868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96개 값 비교로 복사일 160일 탐지, 행 정렬 오류와 공장인원 누수 발견</a:t>
            </a:r>
            <a:endParaRPr lang="en-US" sz="1300" dirty="0"/>
          </a:p>
        </p:txBody>
      </p:sp>
      <p:sp>
        <p:nvSpPr>
          <p:cNvPr id="8" name="Text 5"/>
          <p:cNvSpPr txBox="1"/>
          <p:nvPr/>
        </p:nvSpPr>
        <p:spPr>
          <a:xfrm>
            <a:off x="749808" y="3017520"/>
            <a:ext cx="3163824" cy="68580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무작위 분할 누수 58.3% 정량화</a:t>
            </a:r>
            <a:endParaRPr lang="en-US" sz="1300" dirty="0"/>
          </a:p>
        </p:txBody>
      </p:sp>
      <p:sp>
        <p:nvSpPr>
          <p:cNvPr id="9" name="차별점 카드"/>
          <p:cNvSpPr/>
          <p:nvPr/>
        </p:nvSpPr>
        <p:spPr>
          <a:xfrm>
            <a:off x="4311396" y="1508760"/>
            <a:ext cx="3566160" cy="2286000"/>
          </a:xfrm>
          <a:prstGeom prst="roundRect">
            <a:avLst>
              <a:gd name="adj" fmla="val 3200"/>
            </a:avLst>
          </a:prstGeom>
          <a:solidFill>
            <a:schemeClr val="bg2"/>
          </a:solidFill>
          <a:ln w="12700">
            <a:solidFill>
              <a:schemeClr val="bg2"/>
            </a:solidFill>
            <a:prstDash val="solid"/>
          </a:ln>
        </p:spPr>
      </p:sp>
      <p:sp>
        <p:nvSpPr>
          <p:cNvPr id="10" name="Text 7"/>
          <p:cNvSpPr txBox="1"/>
          <p:nvPr/>
        </p:nvSpPr>
        <p:spPr>
          <a:xfrm>
            <a:off x="4512564" y="1664208"/>
            <a:ext cx="3163824"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불균형 학습과 확률보정</a:t>
            </a:r>
            <a:endParaRPr lang="en-US" sz="1600" dirty="0"/>
          </a:p>
        </p:txBody>
      </p:sp>
      <p:sp>
        <p:nvSpPr>
          <p:cNvPr id="11" name="Text 8"/>
          <p:cNvSpPr txBox="1"/>
          <p:nvPr/>
        </p:nvSpPr>
        <p:spPr>
          <a:xfrm>
            <a:off x="4512564" y="2103120"/>
            <a:ext cx="3163824" cy="86868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피크 확률 모델에 불균형 가중, 등위 회귀 보정</a:t>
            </a:r>
            <a:endParaRPr lang="en-US" sz="1300" dirty="0"/>
          </a:p>
        </p:txBody>
      </p:sp>
      <p:sp>
        <p:nvSpPr>
          <p:cNvPr id="12" name="Text 9"/>
          <p:cNvSpPr txBox="1"/>
          <p:nvPr/>
        </p:nvSpPr>
        <p:spPr>
          <a:xfrm>
            <a:off x="4512564" y="3017520"/>
            <a:ext cx="3163824" cy="68580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가중 시 재현율 0.92, Brier 0.049 → 0.047. 경보 시험 F1 0.46(베이스라인 0.37~0.39)</a:t>
            </a:r>
            <a:endParaRPr lang="en-US" sz="1300" dirty="0"/>
          </a:p>
        </p:txBody>
      </p:sp>
      <p:sp>
        <p:nvSpPr>
          <p:cNvPr id="13" name="차별점 카드"/>
          <p:cNvSpPr/>
          <p:nvPr/>
        </p:nvSpPr>
        <p:spPr>
          <a:xfrm>
            <a:off x="8074152" y="1508760"/>
            <a:ext cx="3566160" cy="2286000"/>
          </a:xfrm>
          <a:prstGeom prst="roundRect">
            <a:avLst>
              <a:gd name="adj" fmla="val 3200"/>
            </a:avLst>
          </a:prstGeom>
          <a:solidFill>
            <a:schemeClr val="bg2"/>
          </a:solidFill>
          <a:ln w="12700">
            <a:solidFill>
              <a:schemeClr val="bg2"/>
            </a:solidFill>
            <a:prstDash val="solid"/>
          </a:ln>
        </p:spPr>
      </p:sp>
      <p:sp>
        <p:nvSpPr>
          <p:cNvPr id="14" name="Text 11"/>
          <p:cNvSpPr txBox="1"/>
          <p:nvPr/>
        </p:nvSpPr>
        <p:spPr>
          <a:xfrm>
            <a:off x="8275320" y="1664208"/>
            <a:ext cx="3163824"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앙상블</a:t>
            </a:r>
            <a:endParaRPr lang="en-US" sz="1600" dirty="0"/>
          </a:p>
        </p:txBody>
      </p:sp>
      <p:sp>
        <p:nvSpPr>
          <p:cNvPr id="15" name="Text 12"/>
          <p:cNvSpPr txBox="1"/>
          <p:nvPr/>
        </p:nvSpPr>
        <p:spPr>
          <a:xfrm>
            <a:off x="8275320" y="2103120"/>
            <a:ext cx="3163824" cy="86868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설정 85가지 탐색, 앙상블 5종 비교, 일 최대 앙상블</a:t>
            </a:r>
            <a:endParaRPr lang="en-US" sz="1300" dirty="0"/>
          </a:p>
        </p:txBody>
      </p:sp>
      <p:sp>
        <p:nvSpPr>
          <p:cNvPr id="16" name="Text 13"/>
          <p:cNvSpPr txBox="1"/>
          <p:nvPr/>
        </p:nvSpPr>
        <p:spPr>
          <a:xfrm>
            <a:off x="8275320" y="3017520"/>
            <a:ext cx="3163824" cy="68580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15분 예측은 검증 최저인 ExtraTrees 채택. 일 최대 MAE 14.7 → 5.82 kW</a:t>
            </a:r>
            <a:endParaRPr lang="en-US" sz="1300" dirty="0"/>
          </a:p>
        </p:txBody>
      </p:sp>
      <p:sp>
        <p:nvSpPr>
          <p:cNvPr id="17" name="차별점 카드"/>
          <p:cNvSpPr/>
          <p:nvPr/>
        </p:nvSpPr>
        <p:spPr>
          <a:xfrm>
            <a:off x="548640" y="3977640"/>
            <a:ext cx="3566160" cy="2286000"/>
          </a:xfrm>
          <a:prstGeom prst="roundRect">
            <a:avLst>
              <a:gd name="adj" fmla="val 3200"/>
            </a:avLst>
          </a:prstGeom>
          <a:solidFill>
            <a:schemeClr val="bg2"/>
          </a:solidFill>
          <a:ln w="12700">
            <a:solidFill>
              <a:schemeClr val="bg2"/>
            </a:solidFill>
            <a:prstDash val="solid"/>
          </a:ln>
        </p:spPr>
      </p:sp>
      <p:sp>
        <p:nvSpPr>
          <p:cNvPr id="18" name="Text 15"/>
          <p:cNvSpPr txBox="1"/>
          <p:nvPr/>
        </p:nvSpPr>
        <p:spPr>
          <a:xfrm>
            <a:off x="749808" y="4133088"/>
            <a:ext cx="3163824"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불확실성 추정</a:t>
            </a:r>
            <a:endParaRPr lang="en-US" sz="1600" dirty="0"/>
          </a:p>
        </p:txBody>
      </p:sp>
      <p:sp>
        <p:nvSpPr>
          <p:cNvPr id="19" name="Text 16"/>
          <p:cNvSpPr txBox="1"/>
          <p:nvPr/>
        </p:nvSpPr>
        <p:spPr>
          <a:xfrm>
            <a:off x="749808" y="4572000"/>
            <a:ext cx="3163824" cy="86868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분위수 회귀 + 컨포멀 보정</a:t>
            </a:r>
            <a:endParaRPr lang="en-US" sz="1300" dirty="0"/>
          </a:p>
        </p:txBody>
      </p:sp>
      <p:sp>
        <p:nvSpPr>
          <p:cNvPr id="20" name="Text 17"/>
          <p:cNvSpPr txBox="1"/>
          <p:nvPr/>
        </p:nvSpPr>
        <p:spPr>
          <a:xfrm>
            <a:off x="749808" y="5486400"/>
            <a:ext cx="3163824" cy="68580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80% 구간 포함률 74.7% → 85.7%</a:t>
            </a:r>
            <a:endParaRPr lang="en-US" sz="1300" dirty="0"/>
          </a:p>
        </p:txBody>
      </p:sp>
      <p:sp>
        <p:nvSpPr>
          <p:cNvPr id="21" name="차별점 카드"/>
          <p:cNvSpPr/>
          <p:nvPr/>
        </p:nvSpPr>
        <p:spPr>
          <a:xfrm>
            <a:off x="4311396" y="3977640"/>
            <a:ext cx="3566160" cy="2286000"/>
          </a:xfrm>
          <a:prstGeom prst="roundRect">
            <a:avLst>
              <a:gd name="adj" fmla="val 3200"/>
            </a:avLst>
          </a:prstGeom>
          <a:solidFill>
            <a:schemeClr val="bg2"/>
          </a:solidFill>
          <a:ln w="12700">
            <a:solidFill>
              <a:schemeClr val="bg2"/>
            </a:solidFill>
            <a:prstDash val="solid"/>
          </a:ln>
        </p:spPr>
      </p:sp>
      <p:sp>
        <p:nvSpPr>
          <p:cNvPr id="22" name="Text 19"/>
          <p:cNvSpPr txBox="1"/>
          <p:nvPr/>
        </p:nvSpPr>
        <p:spPr>
          <a:xfrm>
            <a:off x="4512564" y="4133088"/>
            <a:ext cx="3163824"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제조지식 결합</a:t>
            </a:r>
            <a:endParaRPr lang="en-US" sz="1600" dirty="0"/>
          </a:p>
        </p:txBody>
      </p:sp>
      <p:sp>
        <p:nvSpPr>
          <p:cNvPr id="23" name="Text 20"/>
          <p:cNvSpPr txBox="1"/>
          <p:nvPr/>
        </p:nvSpPr>
        <p:spPr>
          <a:xfrm>
            <a:off x="4512564" y="4572000"/>
            <a:ext cx="3163824" cy="86868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재가동일, 첫·마지막 생산 시각, 냉방도, 피크 두 유형</a:t>
            </a:r>
            <a:endParaRPr lang="en-US" sz="1300" dirty="0"/>
          </a:p>
        </p:txBody>
      </p:sp>
      <p:sp>
        <p:nvSpPr>
          <p:cNvPr id="24" name="Text 21"/>
          <p:cNvSpPr txBox="1"/>
          <p:nvPr/>
        </p:nvSpPr>
        <p:spPr>
          <a:xfrm>
            <a:off x="4512564" y="5486400"/>
            <a:ext cx="3163824" cy="68580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유형별로 원인과 대책을 분리</a:t>
            </a:r>
            <a:endParaRPr lang="en-US" sz="1300" dirty="0"/>
          </a:p>
        </p:txBody>
      </p:sp>
      <p:sp>
        <p:nvSpPr>
          <p:cNvPr id="25" name="차별점 카드"/>
          <p:cNvSpPr/>
          <p:nvPr/>
        </p:nvSpPr>
        <p:spPr>
          <a:xfrm>
            <a:off x="8074152" y="3977640"/>
            <a:ext cx="3566160" cy="2286000"/>
          </a:xfrm>
          <a:prstGeom prst="roundRect">
            <a:avLst>
              <a:gd name="adj" fmla="val 3200"/>
            </a:avLst>
          </a:prstGeom>
          <a:solidFill>
            <a:schemeClr val="bg2"/>
          </a:solidFill>
          <a:ln w="12700">
            <a:solidFill>
              <a:schemeClr val="bg2"/>
            </a:solidFill>
            <a:prstDash val="solid"/>
          </a:ln>
        </p:spPr>
      </p:sp>
      <p:sp>
        <p:nvSpPr>
          <p:cNvPr id="26" name="Text 23"/>
          <p:cNvSpPr txBox="1"/>
          <p:nvPr/>
        </p:nvSpPr>
        <p:spPr>
          <a:xfrm>
            <a:off x="8275320" y="4133088"/>
            <a:ext cx="3163824" cy="36576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예측과 운영·비용 연결</a:t>
            </a:r>
            <a:endParaRPr lang="en-US" sz="1600" dirty="0"/>
          </a:p>
        </p:txBody>
      </p:sp>
      <p:sp>
        <p:nvSpPr>
          <p:cNvPr id="27" name="Text 24"/>
          <p:cNvSpPr txBox="1"/>
          <p:nvPr/>
        </p:nvSpPr>
        <p:spPr>
          <a:xfrm>
            <a:off x="8275320" y="4572000"/>
            <a:ext cx="3163824" cy="86868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전력량 보존 부하 이동 선형계획, 예측오차를 반영한 경보 기준, 한전 요금 환산</a:t>
            </a:r>
            <a:endParaRPr lang="en-US" sz="1300" dirty="0"/>
          </a:p>
        </p:txBody>
      </p:sp>
      <p:sp>
        <p:nvSpPr>
          <p:cNvPr id="28" name="Text 25"/>
          <p:cNvSpPr txBox="1"/>
          <p:nvPr/>
        </p:nvSpPr>
        <p:spPr>
          <a:xfrm>
            <a:off x="8275320" y="5486400"/>
            <a:ext cx="3163824" cy="685800"/>
          </a:xfrm>
          <a:prstGeom prst="rect">
            <a:avLst/>
          </a:prstGeom>
          <a:noFill/>
          <a:ln/>
        </p:spPr>
        <p:txBody>
          <a:bodyPr wrap="square" lIns="0" tIns="0" rIns="0" bIns="0" rtlCol="0" anchor="t"/>
          <a:lstStyle/>
          <a:p>
            <a:pPr indent="0" marL="0">
              <a:spcAft>
                <a:spcPts val="500"/>
              </a:spcAft>
              <a:buNone/>
            </a:pPr>
            <a:r>
              <a:rPr lang="en-US" sz="1300" b="1" dirty="0">
                <a:solidFill>
                  <a:schemeClr val="accent2"/>
                </a:solidFill>
              </a:rPr>
              <a:t>시험 2주 최대수요전력 -15 kW(-7.4%)</a:t>
            </a:r>
            <a:endParaRPr lang="en-US" sz="13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평가 6개 항목에 모두 대응했고, 노트북 한 번 실행으로 재현된다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정리 · 평가 항목 대응과 재현성</a:t>
            </a:r>
            <a:endParaRPr lang="en-US" sz="1200" dirty="0"/>
          </a:p>
        </p:txBody>
      </p:sp>
      <p:graphicFrame>
        <p:nvGraphicFramePr>
          <p:cNvPr id="31" name="표"/>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7406640"/>
                <a:gridCol w="1033272"/>
              </a:tblGrid>
              <a:tr h="457200">
                <a:tc>
                  <a:txBody>
                    <a:bodyPr/>
                    <a:lstStyle/>
                    <a:p>
                      <a:pPr algn="l" indent="0" marL="0">
                        <a:buNone/>
                      </a:pPr>
                      <a:r>
                        <a:rPr lang="en-US" sz="1200" b="1" dirty="0">
                          <a:solidFill>
                            <a:schemeClr val="bg1"/>
                          </a:solidFill>
                        </a:rPr>
                        <a:t>평가 항목(배점)</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대응 내용</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단계</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457200">
                <a:tc>
                  <a:txBody>
                    <a:bodyPr/>
                    <a:lstStyle/>
                    <a:p>
                      <a:pPr indent="0" marL="0">
                        <a:buNone/>
                      </a:pPr>
                      <a:r>
                        <a:rPr lang="en-US" sz="1200" dirty="0">
                          <a:solidFill>
                            <a:schemeClr val="tx2"/>
                          </a:solidFill>
                        </a:rPr>
                        <a:t>1. 데이터 이해 및 진단(15)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변수 의미, 생산단위와 시간·설비·제품 관계, 결측·중복(복사일)·이상치·불균형, 전처리, 시간 순 검증전략</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0</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2"/>
                          </a:solidFill>
                        </a:rPr>
                        <a:t>2. AI 예측모델 개발(40)</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전력량: 베이스라인 포함 11개 모델, 입력 검증, 설정 85가지 탐색, 앙상블 5종, 선정 근거. 피크 확률: 6개 방식 F1·PR-AUC 비교</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2"/>
                          </a:solidFill>
                        </a:rPr>
                        <a:t>3. 영향요인 및 오류분석(15)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SHAP 영향변수·상호작용, 조건별 오차, 놓친 피크(FN)·헛경보(FP) 집중 조건</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1, 2, 5</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2"/>
                          </a:solidFill>
                        </a:rPr>
                        <a:t>4. 현장 활용방안(10)</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하루 전 경보, 확률 기반 점검 우선순위, 유형별 조치, 작업자 알림 절차, 예측 연동 검증</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1, 6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2"/>
                          </a:solidFill>
                        </a:rPr>
                        <a:t>5. 창의성·차별성(10)</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불균형 학습, 앙상블, 불확실성 추정, 확률보정, 제조지식 결합, 선형계획</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0, 1, 4, 6</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2"/>
                          </a:solidFill>
                        </a:rPr>
                        <a:t>6. 코드 및 재현성(10)</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노트북 한 번 실행으로 전처리 → 학습 → 추론 → 분석 → 결과 생성. 시드·스레드·패키지 버전 고정</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전체</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bl>
          </a:graphicData>
        </a:graphic>
      </p:graphicFrame>
      <p:sp>
        <p:nvSpPr>
          <p:cNvPr id="6" name="제출물 카드"/>
          <p:cNvSpPr/>
          <p:nvPr/>
        </p:nvSpPr>
        <p:spPr>
          <a:xfrm>
            <a:off x="548640" y="4846320"/>
            <a:ext cx="5486400" cy="1417320"/>
          </a:xfrm>
          <a:prstGeom prst="roundRect">
            <a:avLst>
              <a:gd name="adj" fmla="val 5161"/>
            </a:avLst>
          </a:prstGeom>
          <a:solidFill>
            <a:schemeClr val="bg2"/>
          </a:solidFill>
          <a:ln w="12700">
            <a:solidFill>
              <a:schemeClr val="bg2"/>
            </a:solidFill>
            <a:prstDash val="solid"/>
          </a:ln>
        </p:spPr>
      </p:sp>
      <p:sp>
        <p:nvSpPr>
          <p:cNvPr id="7" name="Text 3"/>
          <p:cNvSpPr txBox="1"/>
          <p:nvPr/>
        </p:nvSpPr>
        <p:spPr>
          <a:xfrm>
            <a:off x="749808" y="4956048"/>
            <a:ext cx="5029200"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소스코드 제출물 구성</a:t>
            </a:r>
            <a:endParaRPr lang="en-US" sz="1400" dirty="0"/>
          </a:p>
        </p:txBody>
      </p:sp>
      <p:sp>
        <p:nvSpPr>
          <p:cNvPr id="8" name="Text 4"/>
          <p:cNvSpPr txBox="1"/>
          <p:nvPr/>
        </p:nvSpPr>
        <p:spPr>
          <a:xfrm>
            <a:off x="749808" y="5303520"/>
            <a:ext cx="5074920" cy="9144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analysis.ipynb(모든 코드·설명·결과) / requirements.txt / data(학습용 데이터) / README / predictions(테스트 예측결과 3개 파일)</a:t>
            </a:r>
            <a:endParaRPr lang="en-US" sz="1200" dirty="0"/>
          </a:p>
        </p:txBody>
      </p:sp>
      <p:sp>
        <p:nvSpPr>
          <p:cNvPr id="9" name="재현성 카드"/>
          <p:cNvSpPr/>
          <p:nvPr/>
        </p:nvSpPr>
        <p:spPr>
          <a:xfrm>
            <a:off x="6217920" y="4846320"/>
            <a:ext cx="5422392" cy="1417320"/>
          </a:xfrm>
          <a:prstGeom prst="roundRect">
            <a:avLst>
              <a:gd name="adj" fmla="val 5161"/>
            </a:avLst>
          </a:prstGeom>
          <a:solidFill>
            <a:schemeClr val="bg2"/>
          </a:solidFill>
          <a:ln w="12700">
            <a:solidFill>
              <a:schemeClr val="bg2"/>
            </a:solidFill>
            <a:prstDash val="solid"/>
          </a:ln>
        </p:spPr>
      </p:sp>
      <p:sp>
        <p:nvSpPr>
          <p:cNvPr id="10" name="Text 6"/>
          <p:cNvSpPr txBox="1"/>
          <p:nvPr/>
        </p:nvSpPr>
        <p:spPr>
          <a:xfrm>
            <a:off x="6419088" y="4956048"/>
            <a:ext cx="5029200" cy="32004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재현성</a:t>
            </a:r>
            <a:endParaRPr lang="en-US" sz="1400" dirty="0"/>
          </a:p>
        </p:txBody>
      </p:sp>
      <p:sp>
        <p:nvSpPr>
          <p:cNvPr id="11" name="Text 7"/>
          <p:cNvSpPr txBox="1"/>
          <p:nvPr/>
        </p:nvSpPr>
        <p:spPr>
          <a:xfrm>
            <a:off x="6419088" y="5303520"/>
            <a:ext cx="5029200" cy="91440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제출 폴더 안에서 처음부터 실행해 오류 없이 완료(약 15~25분). 탐색 30분은 기록된 최적 설정으로 대체하며 옵션으로 재실행 가능</a:t>
            </a:r>
            <a:endParaRPr lang="en-US" sz="12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85800"/>
          </a:xfrm>
          <a:prstGeom prst="rect">
            <a:avLst/>
          </a:prstGeom>
          <a:noFill/>
          <a:ln/>
        </p:spPr>
        <p:txBody>
          <a:bodyPr wrap="square" lIns="0" tIns="0" rIns="0" bIns="0" rtlCol="0" anchor="ctr"/>
          <a:lstStyle/>
          <a:p>
            <a:pPr algn="l" indent="0" marL="0">
              <a:buNone/>
            </a:pPr>
            <a:r>
              <a:rPr lang="en-US" sz="2500" b="1" dirty="0">
                <a:solidFill>
                  <a:schemeClr val="tx1"/>
                </a:solidFill>
              </a:rPr>
              <a:t>외부 데이터는 두 가지만 썼고, 가정과 한계를 분명히 한다</a:t>
            </a:r>
            <a:endParaRPr lang="en-US" sz="2500" dirty="0"/>
          </a:p>
        </p:txBody>
      </p:sp>
      <p:sp>
        <p:nvSpPr>
          <p:cNvPr id="3" name="단계 표시"/>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정리 · 외부 데이터와 한계</a:t>
            </a:r>
            <a:endParaRPr lang="en-US" sz="1200" dirty="0"/>
          </a:p>
        </p:txBody>
      </p:sp>
      <p:sp>
        <p:nvSpPr>
          <p:cNvPr id="5" name="Text 2"/>
          <p:cNvSpPr txBox="1"/>
          <p:nvPr/>
        </p:nvSpPr>
        <p:spPr>
          <a:xfrm>
            <a:off x="548640" y="1463040"/>
            <a:ext cx="5486400" cy="32004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외부 데이터 활용 내역</a:t>
            </a:r>
            <a:endParaRPr lang="en-US" sz="1600" dirty="0"/>
          </a:p>
        </p:txBody>
      </p:sp>
      <p:graphicFrame>
        <p:nvGraphicFramePr>
          <p:cNvPr id="32" name="표"/>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560320"/>
                <a:gridCol w="3749040"/>
                <a:gridCol w="2377440"/>
                <a:gridCol w="2404872"/>
              </a:tblGrid>
              <a:tr h="457200">
                <a:tc>
                  <a:txBody>
                    <a:bodyPr/>
                    <a:lstStyle/>
                    <a:p>
                      <a:pPr algn="l" indent="0" marL="0">
                        <a:buNone/>
                      </a:pPr>
                      <a:r>
                        <a:rPr lang="en-US" sz="1200" b="1" dirty="0">
                          <a:solidFill>
                            <a:schemeClr val="bg1"/>
                          </a:solidFill>
                        </a:rPr>
                        <a:t>데이터</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출처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활용 사유</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bg1"/>
                          </a:solidFill>
                        </a:rPr>
                        <a:t>활용 방법</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tx1"/>
                    </a:solidFill>
                  </a:tcPr>
                </a:tc>
              </a:tr>
              <a:tr h="457200">
                <a:tc>
                  <a:txBody>
                    <a:bodyPr/>
                    <a:lstStyle/>
                    <a:p>
                      <a:pPr indent="0" marL="0">
                        <a:buNone/>
                      </a:pPr>
                      <a:r>
                        <a:rPr lang="en-US" sz="1200" dirty="0">
                          <a:solidFill>
                            <a:schemeClr val="tx2"/>
                          </a:solidFill>
                        </a:rPr>
                        <a:t>대한민국 법정공휴일(2021)</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python-holidays 패키지(공개 오픈소스)</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공휴일 가동 패턴 반영</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rPr>
                        <a:t>공휴일 여부 변수</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2"/>
                          </a:solidFill>
                        </a:rPr>
                        <a:t>전기요금표</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한국전력공사 전기요금표(종합), 2023.05.16 시행</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피크 저감량을 비용으로 환산</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기본요금 7,470원/kW·월, 시간대별 전력량요금</a:t>
                      </a:r>
                      <a:endParaRPr lang="en-US" sz="1200" dirty="0"/>
                    </a:p>
                  </a:txBody>
                  <a:tcPr marL="73152" marR="73152"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3429000"/>
            <a:ext cx="5486400" cy="320040"/>
          </a:xfrm>
          <a:prstGeom prst="rect">
            <a:avLst/>
          </a:prstGeom>
          <a:noFill/>
          <a:ln/>
        </p:spPr>
        <p:txBody>
          <a:bodyPr wrap="square" lIns="0" tIns="0" rIns="0" bIns="0" rtlCol="0" anchor="t"/>
          <a:lstStyle/>
          <a:p>
            <a:pPr indent="0" marL="0">
              <a:spcAft>
                <a:spcPts val="500"/>
              </a:spcAft>
              <a:buNone/>
            </a:pPr>
            <a:r>
              <a:rPr lang="en-US" sz="1600" b="1" dirty="0">
                <a:solidFill>
                  <a:schemeClr val="tx1"/>
                </a:solidFill>
              </a:rPr>
              <a:t>한계와 다음 단계</a:t>
            </a:r>
            <a:endParaRPr lang="en-US" sz="1600" dirty="0"/>
          </a:p>
        </p:txBody>
      </p:sp>
      <p:sp>
        <p:nvSpPr>
          <p:cNvPr id="8" name="한계 카드"/>
          <p:cNvSpPr/>
          <p:nvPr/>
        </p:nvSpPr>
        <p:spPr>
          <a:xfrm>
            <a:off x="548640" y="3840480"/>
            <a:ext cx="2624328" cy="1828800"/>
          </a:xfrm>
          <a:prstGeom prst="roundRect">
            <a:avLst>
              <a:gd name="adj" fmla="val 4000"/>
            </a:avLst>
          </a:prstGeom>
          <a:solidFill>
            <a:schemeClr val="bg2"/>
          </a:solidFill>
          <a:ln w="12700">
            <a:solidFill>
              <a:schemeClr val="bg2"/>
            </a:solidFill>
            <a:prstDash val="solid"/>
          </a:ln>
        </p:spPr>
      </p:sp>
      <p:sp>
        <p:nvSpPr>
          <p:cNvPr id="9" name="Text 5"/>
          <p:cNvSpPr txBox="1"/>
          <p:nvPr/>
        </p:nvSpPr>
        <p:spPr>
          <a:xfrm>
            <a:off x="731520" y="3977640"/>
            <a:ext cx="2258568"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기상 예보</a:t>
            </a:r>
            <a:endParaRPr lang="en-US" sz="1500" dirty="0"/>
          </a:p>
        </p:txBody>
      </p:sp>
      <p:sp>
        <p:nvSpPr>
          <p:cNvPr id="10" name="Text 6"/>
          <p:cNvSpPr txBox="1"/>
          <p:nvPr/>
        </p:nvSpPr>
        <p:spPr>
          <a:xfrm>
            <a:off x="731520" y="4370832"/>
            <a:ext cx="2258568" cy="12344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실측 기상을 예보 대신 썼다. 기상을 빼도 오차 증가는 약 1.3 kW라 영향은 이 범위 안이다</a:t>
            </a:r>
            <a:endParaRPr lang="en-US" sz="1200" dirty="0"/>
          </a:p>
        </p:txBody>
      </p:sp>
      <p:sp>
        <p:nvSpPr>
          <p:cNvPr id="11" name="한계 카드"/>
          <p:cNvSpPr/>
          <p:nvPr/>
        </p:nvSpPr>
        <p:spPr>
          <a:xfrm>
            <a:off x="3362249" y="3840480"/>
            <a:ext cx="2624328" cy="1828800"/>
          </a:xfrm>
          <a:prstGeom prst="roundRect">
            <a:avLst>
              <a:gd name="adj" fmla="val 4000"/>
            </a:avLst>
          </a:prstGeom>
          <a:solidFill>
            <a:schemeClr val="bg2"/>
          </a:solidFill>
          <a:ln w="12700">
            <a:solidFill>
              <a:schemeClr val="bg2"/>
            </a:solidFill>
            <a:prstDash val="solid"/>
          </a:ln>
        </p:spPr>
      </p:sp>
      <p:sp>
        <p:nvSpPr>
          <p:cNvPr id="12" name="Text 8"/>
          <p:cNvSpPr txBox="1"/>
          <p:nvPr/>
        </p:nvSpPr>
        <p:spPr>
          <a:xfrm>
            <a:off x="3545129" y="3977640"/>
            <a:ext cx="2258568"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이동 가능 부하</a:t>
            </a:r>
            <a:endParaRPr lang="en-US" sz="1500" dirty="0"/>
          </a:p>
        </p:txBody>
      </p:sp>
      <p:sp>
        <p:nvSpPr>
          <p:cNvPr id="13" name="Text 9"/>
          <p:cNvSpPr txBox="1"/>
          <p:nvPr/>
        </p:nvSpPr>
        <p:spPr>
          <a:xfrm>
            <a:off x="3545129" y="4370832"/>
            <a:ext cx="2258568" cy="12344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옮길 수 있는 비율 20%와 블록 15 kW는 가정값이다. 설비별 전력 계측으로 확인해야 한다</a:t>
            </a:r>
            <a:endParaRPr lang="en-US" sz="1200" dirty="0"/>
          </a:p>
        </p:txBody>
      </p:sp>
      <p:sp>
        <p:nvSpPr>
          <p:cNvPr id="14" name="한계 카드"/>
          <p:cNvSpPr/>
          <p:nvPr/>
        </p:nvSpPr>
        <p:spPr>
          <a:xfrm>
            <a:off x="6175858" y="3840480"/>
            <a:ext cx="2624328" cy="1828800"/>
          </a:xfrm>
          <a:prstGeom prst="roundRect">
            <a:avLst>
              <a:gd name="adj" fmla="val 4000"/>
            </a:avLst>
          </a:prstGeom>
          <a:solidFill>
            <a:schemeClr val="bg2"/>
          </a:solidFill>
          <a:ln w="12700">
            <a:solidFill>
              <a:schemeClr val="bg2"/>
            </a:solidFill>
            <a:prstDash val="solid"/>
          </a:ln>
        </p:spPr>
      </p:sp>
      <p:sp>
        <p:nvSpPr>
          <p:cNvPr id="15" name="Text 11"/>
          <p:cNvSpPr txBox="1"/>
          <p:nvPr/>
        </p:nvSpPr>
        <p:spPr>
          <a:xfrm>
            <a:off x="6358738" y="3977640"/>
            <a:ext cx="2258568"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인건비</a:t>
            </a:r>
            <a:endParaRPr lang="en-US" sz="1500" dirty="0"/>
          </a:p>
        </p:txBody>
      </p:sp>
      <p:sp>
        <p:nvSpPr>
          <p:cNvPr id="16" name="Text 12"/>
          <p:cNvSpPr txBox="1"/>
          <p:nvPr/>
        </p:nvSpPr>
        <p:spPr>
          <a:xfrm>
            <a:off x="6358738" y="4370832"/>
            <a:ext cx="2258568" cy="12344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저녁 생산은 인건비가 1.5배인 시간대다. 인력 운영과 함께 설계해야 한다</a:t>
            </a:r>
            <a:endParaRPr lang="en-US" sz="1200" dirty="0"/>
          </a:p>
        </p:txBody>
      </p:sp>
      <p:sp>
        <p:nvSpPr>
          <p:cNvPr id="17" name="한계 카드"/>
          <p:cNvSpPr/>
          <p:nvPr/>
        </p:nvSpPr>
        <p:spPr>
          <a:xfrm>
            <a:off x="8989466" y="3840480"/>
            <a:ext cx="2624328" cy="1828800"/>
          </a:xfrm>
          <a:prstGeom prst="roundRect">
            <a:avLst>
              <a:gd name="adj" fmla="val 4000"/>
            </a:avLst>
          </a:prstGeom>
          <a:solidFill>
            <a:schemeClr val="bg2"/>
          </a:solidFill>
          <a:ln w="12700">
            <a:solidFill>
              <a:schemeClr val="bg2"/>
            </a:solidFill>
            <a:prstDash val="solid"/>
          </a:ln>
        </p:spPr>
      </p:sp>
      <p:sp>
        <p:nvSpPr>
          <p:cNvPr id="18" name="Text 14"/>
          <p:cNvSpPr txBox="1"/>
          <p:nvPr/>
        </p:nvSpPr>
        <p:spPr>
          <a:xfrm>
            <a:off x="9172346" y="3977640"/>
            <a:ext cx="2258568" cy="3200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계절</a:t>
            </a:r>
            <a:endParaRPr lang="en-US" sz="1500" dirty="0"/>
          </a:p>
        </p:txBody>
      </p:sp>
      <p:sp>
        <p:nvSpPr>
          <p:cNvPr id="19" name="Text 15"/>
          <p:cNvSpPr txBox="1"/>
          <p:nvPr/>
        </p:nvSpPr>
        <p:spPr>
          <a:xfrm>
            <a:off x="9172346" y="4370832"/>
            <a:ext cx="2258568" cy="1234440"/>
          </a:xfrm>
          <a:prstGeom prst="rect">
            <a:avLst/>
          </a:prstGeom>
          <a:noFill/>
          <a:ln/>
        </p:spPr>
        <p:txBody>
          <a:bodyPr wrap="square" lIns="0" tIns="0" rIns="0" bIns="0" rtlCol="0" anchor="t"/>
          <a:lstStyle/>
          <a:p>
            <a:pPr indent="0" marL="0">
              <a:spcAft>
                <a:spcPts val="500"/>
              </a:spcAft>
              <a:buNone/>
            </a:pPr>
            <a:r>
              <a:rPr lang="en-US" sz="1200" dirty="0">
                <a:solidFill>
                  <a:schemeClr val="tx2"/>
                </a:solidFill>
              </a:rPr>
              <a:t>원본 구간이 7~9월뿐이라 겨울(난방) 피크는 검증하지 못했다</a:t>
            </a:r>
            <a:endParaRPr lang="en-US" sz="1200" dirty="0"/>
          </a:p>
        </p:txBody>
      </p:sp>
      <p:sp>
        <p:nvSpPr>
          <p:cNvPr id="20" name="Text 16"/>
          <p:cNvSpPr txBox="1"/>
          <p:nvPr/>
        </p:nvSpPr>
        <p:spPr>
          <a:xfrm>
            <a:off x="548640" y="5852160"/>
            <a:ext cx="11091672" cy="457200"/>
          </a:xfrm>
          <a:prstGeom prst="rect">
            <a:avLst/>
          </a:prstGeom>
          <a:noFill/>
          <a:ln/>
        </p:spPr>
        <p:txBody>
          <a:bodyPr wrap="square" lIns="0" tIns="0" rIns="0" bIns="0" rtlCol="0" anchor="t"/>
          <a:lstStyle/>
          <a:p>
            <a:pPr indent="0" marL="0">
              <a:spcAft>
                <a:spcPts val="500"/>
              </a:spcAft>
              <a:buNone/>
            </a:pPr>
            <a:r>
              <a:rPr lang="en-US" sz="1100" dirty="0">
                <a:solidFill>
                  <a:schemeClr val="accent5"/>
                </a:solidFill>
              </a:rPr>
              <a:t>데이터 출처: 중소벤처기업부, Korea AI Manufacturing Platform(KAMP), 자원 최적화 AI 데이터셋, KAIST(울산과학기술원, (주)유피시앤에스), 2021.12.27., www.kamp-ai.kr</a:t>
            </a:r>
            <a:endParaRPr lang="en-US" sz="1100" dirty="0"/>
          </a:p>
        </p:txBody>
      </p:sp>
      <p:sp>
        <p:nvSpPr>
          <p:cNvPr id="25" name="Slide Number Placeholder 0"/>
          <p:cNvSpPr>
            <a:spLocks noGrp="1"/>
          </p:cNvSpPr>
          <p:nvPr>
            <p:ph type="sldNum" sz="quarter" idx="4294967295"/>
          </p:nvPr>
        </p:nvSpPr>
        <p:spPr>
          <a:xfrm>
            <a:off x="10972800" y="6419088"/>
            <a:ext cx="6858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22960" y="1325880"/>
            <a:ext cx="10515600" cy="365760"/>
          </a:xfrm>
          <a:prstGeom prst="rect">
            <a:avLst/>
          </a:prstGeom>
          <a:noFill/>
          <a:ln/>
        </p:spPr>
        <p:txBody>
          <a:bodyPr wrap="square" lIns="0" tIns="0" rIns="0" bIns="0" rtlCol="0" anchor="ctr"/>
          <a:lstStyle/>
          <a:p>
            <a:pPr indent="0" marL="0">
              <a:buNone/>
            </a:pPr>
            <a:r>
              <a:rPr lang="en-US" sz="1500" b="1" dirty="0">
                <a:solidFill>
                  <a:schemeClr val="accent1"/>
                </a:solidFill>
              </a:rPr>
              <a:t>결론</a:t>
            </a:r>
            <a:endParaRPr lang="en-US" sz="1500" dirty="0"/>
          </a:p>
        </p:txBody>
      </p:sp>
      <p:sp>
        <p:nvSpPr>
          <p:cNvPr id="3" name="Text 0"/>
          <p:cNvSpPr/>
          <p:nvPr>
            <p:ph idx="100" type="title" hasCustomPrompt="1"/>
          </p:nvPr>
        </p:nvSpPr>
        <p:spPr>
          <a:xfrm>
            <a:off x="822960" y="2011680"/>
            <a:ext cx="10515600" cy="1737360"/>
          </a:xfrm>
          <a:prstGeom prst="rect">
            <a:avLst/>
          </a:prstGeom>
          <a:noFill/>
          <a:ln/>
        </p:spPr>
        <p:txBody>
          <a:bodyPr wrap="square" lIns="0" tIns="0" rIns="0" bIns="0" rtlCol="0" anchor="t"/>
          <a:lstStyle/>
          <a:p>
            <a:pPr algn="l" indent="0" marL="0">
              <a:buNone/>
            </a:pPr>
            <a:r>
              <a:rPr lang="en-US" sz="4000" b="1" dirty="0">
                <a:solidFill>
                  <a:schemeClr val="bg1"/>
                </a:solidFill>
              </a:rPr>
              <a:t>피크를 하루 전에 알고,</a:t>
            </a:r>
            <a:endParaRPr lang="en-US" sz="4000" dirty="0"/>
          </a:p>
          <a:p>
            <a:pPr algn="l" indent="0" marL="0">
              <a:buNone/>
            </a:pPr>
            <a:r>
              <a:rPr lang="en-US" sz="4000" b="1" dirty="0">
                <a:solidFill>
                  <a:schemeClr val="bg1"/>
                </a:solidFill>
              </a:rPr>
              <a:t>유형에 맞춰 줄인다</a:t>
            </a:r>
            <a:endParaRPr lang="en-US" sz="4000" dirty="0"/>
          </a:p>
        </p:txBody>
      </p:sp>
      <p:sp>
        <p:nvSpPr>
          <p:cNvPr id="4" name="Text 0"/>
          <p:cNvSpPr/>
          <p:nvPr>
            <p:ph idx="101" type="body" hasCustomPrompt="1"/>
          </p:nvPr>
        </p:nvSpPr>
        <p:spPr>
          <a:xfrm>
            <a:off x="822960" y="4114800"/>
            <a:ext cx="10515600" cy="1097280"/>
          </a:xfrm>
          <a:prstGeom prst="rect">
            <a:avLst/>
          </a:prstGeom>
          <a:noFill/>
          <a:ln/>
        </p:spPr>
        <p:txBody>
          <a:bodyPr wrap="square" lIns="0" tIns="0" rIns="0" bIns="0" rtlCol="0" anchor="t"/>
          <a:lstStyle/>
          <a:p>
            <a:pPr indent="0" marL="0">
              <a:buNone/>
            </a:pPr>
            <a:r>
              <a:rPr lang="en-US" sz="1800" dirty="0">
                <a:solidFill>
                  <a:schemeClr val="accent6"/>
                </a:solidFill>
              </a:rPr>
              <a:t>시험 MAE 6.47 kW · 일 최대 예측 오차 5.82 kW · 피크 두 유형 · 최대수요전력 204 → 189 kW</a:t>
            </a:r>
            <a:endParaRPr lang="en-US" sz="1800" dirty="0"/>
          </a:p>
        </p:txBody>
      </p:sp>
    </p:spTree>
  </p:cSld>
  <p:clrMapOvr>
    <a:masterClrMapping/>
  </p:clrMapOvr>
</p:sld>
</file>

<file path=ppt/theme/theme1.xml><?xml version="1.0" encoding="utf-8"?>
<a:theme xmlns:a="http://schemas.openxmlformats.org/drawingml/2006/main" name="PowerPeak">
  <a:themeElements>
    <a:clrScheme name="PowerPeak">
      <a:dk1>
        <a:srgbClr val="14213D"/>
      </a:dk1>
      <a:lt1>
        <a:srgbClr val="FFFFFF"/>
      </a:lt1>
      <a:dk2>
        <a:srgbClr val="2B2D42"/>
      </a:dk2>
      <a:lt2>
        <a:srgbClr val="F1F4F9"/>
      </a:lt2>
      <a:accent1>
        <a:srgbClr val="FCA311"/>
      </a:accent1>
      <a:accent2>
        <a:srgbClr val="D1495B"/>
      </a:accent2>
      <a:accent3>
        <a:srgbClr val="2A6FDB"/>
      </a:accent3>
      <a:accent4>
        <a:srgbClr val="00798C"/>
      </a:accent4>
      <a:accent5>
        <a:srgbClr val="8D99AE"/>
      </a:accent5>
      <a:accent6>
        <a:srgbClr val="DDE3EC"/>
      </a:accent6>
      <a:hlink>
        <a:srgbClr val="2A6FDB"/>
      </a:hlink>
      <a:folHlink>
        <a:srgbClr val="8D99AE"/>
      </a:folHlink>
    </a:clrScheme>
    <a:fontScheme name="PowerPeak">
      <a:majorFont>
        <a:latin typeface="Malgun Gothic"/>
        <a:ea typeface="Malgun Gothic"/>
        <a:cs typeface=""/>
        <a:font script="Jpan" typeface="游ゴシック Light"/>
        <a:font script="Hang" typeface="Malgun Gothic"/>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Malgun Gothic"/>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제조 생산데이터 기반 전력사용량 예측 및 최대피크 위험조건 분석</dc:title>
  <dc:subject>PptxGenJS Presentation</dc:subject>
  <dc:creator>PptxGenJS</dc:creator>
  <cp:lastModifiedBy>PptxGenJS</cp:lastModifiedBy>
  <cp:revision>1</cp:revision>
  <dcterms:created xsi:type="dcterms:W3CDTF">2026-10-06T07:53:15Z</dcterms:created>
  <dcterms:modified xsi:type="dcterms:W3CDTF">2026-10-06T07:53:15Z</dcterms:modified>
</cp:coreProperties>
</file>